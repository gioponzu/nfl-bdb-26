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79" r:id="rId5"/>
    <p:sldId id="278" r:id="rId6"/>
    <p:sldId id="277" r:id="rId7"/>
    <p:sldId id="259" r:id="rId8"/>
    <p:sldId id="260" r:id="rId9"/>
    <p:sldId id="261" r:id="rId10"/>
    <p:sldId id="262" r:id="rId11"/>
    <p:sldId id="263" r:id="rId12"/>
    <p:sldId id="275" r:id="rId13"/>
    <p:sldId id="273" r:id="rId14"/>
    <p:sldId id="280" r:id="rId15"/>
    <p:sldId id="266" r:id="rId16"/>
    <p:sldId id="281" r:id="rId17"/>
    <p:sldId id="268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5EF"/>
    <a:srgbClr val="000000"/>
    <a:srgbClr val="FFFFFF"/>
    <a:srgbClr val="FFA500"/>
    <a:srgbClr val="003268"/>
    <a:srgbClr val="7DC6E1"/>
    <a:srgbClr val="EFED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0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90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American football is a highly tactical, play-based sport: every play starts from a scripted pre-snap formation, and its outcome depends on the coordinated movement of 22 players executing, and reacting to, a specific tactical plan: receivers running precise routes, defenders covering in man or zone schemes, the quarterback reading the defense and timing the throw. Once the ball is thrown, the play stops being scripted: receivers adjust their route to the ball's flight, defenders close distance or break on the ball, and the outcome of the play, catch, pass defensed, interception, is decided by a few seconds of movement that cannot be fully anticipated from the pre-snap formation alone. Task: predict each receiver's and defender's trajectory while the ball is in the air, from tracking data up to the throw. Why this task: it turns the tactical, multi-agent nature of football directly into a machine learning problem, naturally a graph learning problem, players as nodes, spatial and temporal relations as edges, a strong fit for graph neural networks and attention mechanisms, the core topics of the course. It also combines several AI sub-problems in one pipeline: structured feature engineering from raw tracking data, graph construction, attention-based representation learning, and a custom multi-term loss, a complete case study rather than a single isolated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2CF3-BC0F-F4B8-0BA4-5A044A5A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5A6C9-6081-93C2-43D5-6060241AA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71D90-29B3-4E26-DCC4-FE1EB8AFA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American football is a highly tactical, play-based sport: every play starts from a scripted pre-snap formation, and its outcome depends on the coordinated movement of 22 players executing, and reacting to, a specific tactical plan: receivers running precise routes, defenders covering in man or zone schemes, the quarterback reading the defense and timing the throw. Once the ball is thrown, the play stops being scripted: receivers adjust their route to the ball's flight, defenders close distance or break on the ball, and the outcome of the play, catch, pass defensed, interception, is decided by a few seconds of movement that cannot be fully anticipated from the pre-snap formation alone. Task: predict each receiver's and defender's trajectory while the ball is in the air, from tracking data up to the throw. Why this task: it turns the tactical, multi-agent nature of football directly into a machine learning problem, naturally a graph learning problem, players as nodes, spatial and temporal relations as edges, a strong fit for graph neural networks and attention mechanisms, the core topics of the course. It also combines several AI sub-problems in one pipeline: structured feature engineering from raw tracking data, graph construction, attention-based representation learning, and a custom multi-term loss, a complete case study rather than a single isolated technique.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9B634-3B9E-CD8F-160F-297B6F90E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702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98860"/>
            <a:ext cx="8255000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38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24856"/>
            <a:ext cx="10566400" cy="4020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98860"/>
            <a:ext cx="8255000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38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24856"/>
            <a:ext cx="10566400" cy="4020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12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0.png"/><Relationship Id="rId10" Type="http://schemas.openxmlformats.org/officeDocument/2006/relationships/image" Target="../media/image15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ackground" descr="image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3" name="Text 0"/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0" y="774700"/>
            <a:ext cx="1219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b="1" i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From Tactics to Trajectories</a:t>
            </a:r>
            <a:endParaRPr lang="en-US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3648" y="1663173"/>
            <a:ext cx="1511299" cy="198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451106" y="1669170"/>
            <a:ext cx="9195935" cy="1217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Light" panose="020B0609020000020004" pitchFamily="49" charset="0"/>
              <a:ea typeface="+mn-ea"/>
              <a:cs typeface="Cascadia Code SemiLight" panose="020B0609020000020004" pitchFamily="49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12805" y="3178617"/>
            <a:ext cx="10566391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3647" y="3207519"/>
            <a:ext cx="1511299" cy="198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451095" y="3207519"/>
            <a:ext cx="9195935" cy="56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12805" y="3703682"/>
            <a:ext cx="10566391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3657" y="4047415"/>
            <a:ext cx="1511299" cy="198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451100" y="4047415"/>
            <a:ext cx="9195935" cy="88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Light" panose="020B0609020000020004" pitchFamily="49" charset="0"/>
              <a:ea typeface="+mn-ea"/>
              <a:cs typeface="Cascadia Code SemiLight" panose="020B0609020000020004" pitchFamily="49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12805" y="5291283"/>
            <a:ext cx="1511299" cy="198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451097" y="5291283"/>
            <a:ext cx="9195935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Light" panose="020B0609020000020004" pitchFamily="49" charset="0"/>
              <a:ea typeface="+mn-ea"/>
              <a:cs typeface="Cascadia Code SemiLight" panose="020B0609020000020004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0D58BD-496B-074E-4EFF-CF8E2788B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pic>
        <p:nvPicPr>
          <p:cNvPr id="21" name="Cover image" descr="cover_c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376" y="1841500"/>
            <a:ext cx="5881248" cy="3746500"/>
          </a:xfrm>
          <a:prstGeom prst="rect">
            <a:avLst/>
          </a:prstGeom>
        </p:spPr>
      </p:pic>
      <p:sp>
        <p:nvSpPr>
          <p:cNvPr id="22" name="Cover subtitle"/>
          <p:cNvSpPr txBox="1"/>
          <p:nvPr/>
        </p:nvSpPr>
        <p:spPr>
          <a:xfrm>
            <a:off x="1016000" y="1447800"/>
            <a:ext cx="1016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Predicting player movement with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G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raph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N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eural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N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etworks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8A8672"/>
              </a:solidFill>
              <a:effectLst/>
              <a:uLnTx/>
              <a:uFillTx/>
              <a:latin typeface="Cascadia Code SemiLight"/>
              <a:ea typeface="+mn-ea"/>
              <a:cs typeface="+mn-cs"/>
            </a:endParaRPr>
          </a:p>
        </p:txBody>
      </p:sp>
      <p:cxnSp>
        <p:nvCxnSpPr>
          <p:cNvPr id="901" name="Cover rule"/>
          <p:cNvCxnSpPr/>
          <p:nvPr/>
        </p:nvCxnSpPr>
        <p:spPr>
          <a:xfrm>
            <a:off x="5143500" y="5829300"/>
            <a:ext cx="1905000" cy="0"/>
          </a:xfrm>
          <a:prstGeom prst="line">
            <a:avLst/>
          </a:prstGeom>
          <a:ln w="12700">
            <a:solidFill>
              <a:srgbClr val="CF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Cover author"/>
          <p:cNvSpPr txBox="1"/>
          <p:nvPr/>
        </p:nvSpPr>
        <p:spPr>
          <a:xfrm>
            <a:off x="2286000" y="5930900"/>
            <a:ext cx="7620000" cy="215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Giovanni Ponzuoli</a:t>
            </a:r>
          </a:p>
        </p:txBody>
      </p:sp>
      <p:sp>
        <p:nvSpPr>
          <p:cNvPr id="903" name="Cover course"/>
          <p:cNvSpPr txBox="1"/>
          <p:nvPr/>
        </p:nvSpPr>
        <p:spPr>
          <a:xfrm>
            <a:off x="2286000" y="6235700"/>
            <a:ext cx="76200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Big Data Analytics and Text Mining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7231D-05D9-1429-60FF-F4F7FCF1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E0268636-9DCC-5F31-B105-313CB9C5A6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3E00693-5000-7169-14F1-9B53F90B293D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2406660-1C6E-EFB2-82B7-B7BE4F7A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74700"/>
            <a:ext cx="12192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800" b="1" i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Introduction</a:t>
            </a:r>
            <a:endParaRPr lang="en-US" sz="3800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E51037-ED4D-E0CC-D677-7BD4B4CFCE1A}"/>
              </a:ext>
            </a:extLst>
          </p:cNvPr>
          <p:cNvSpPr/>
          <p:nvPr/>
        </p:nvSpPr>
        <p:spPr>
          <a:xfrm>
            <a:off x="762000" y="2489200"/>
            <a:ext cx="190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THE TACTICS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940" name="label motivation"/>
          <p:cNvSpPr/>
          <p:nvPr/>
        </p:nvSpPr>
        <p:spPr>
          <a:xfrm>
            <a:off x="762000" y="1562100"/>
            <a:ext cx="190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WHY THIS PROJECT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941" name="text motivation"/>
          <p:cNvSpPr txBox="1"/>
          <p:nvPr/>
        </p:nvSpPr>
        <p:spPr>
          <a:xfrm>
            <a:off x="2794000" y="1524000"/>
            <a:ext cx="8585200" cy="5901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 lifelong passion for the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Light" panose="020B0609020000020004" pitchFamily="49" charset="0"/>
              </a:rPr>
              <a:t>NFL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and a taste for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Light" panose="020B0609020000020004" pitchFamily="49" charset="0"/>
              </a:rPr>
              <a:t>graph learning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led me to the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Light" panose="020B0609020000020004" pitchFamily="49" charset="0"/>
              </a:rPr>
              <a:t>Kaggle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NFL Big Data Bowl 2026, </a:t>
            </a: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the </a:t>
            </a:r>
            <a:r>
              <a:rPr lang="en-US" sz="140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challenge</a:t>
            </a: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behind this project</a:t>
            </a:r>
            <a:endParaRPr lang="en-US" sz="1400" b="0" dirty="0">
              <a:solidFill>
                <a:srgbClr val="121417"/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0A8EE39-B562-AED4-36BD-18FEDF3807B0}"/>
              </a:ext>
            </a:extLst>
          </p:cNvPr>
          <p:cNvSpPr/>
          <p:nvPr/>
        </p:nvSpPr>
        <p:spPr>
          <a:xfrm>
            <a:off x="2451106" y="6985000"/>
            <a:ext cx="9195935" cy="1121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Light" panose="020B0609020000020004" pitchFamily="49" charset="0"/>
              <a:ea typeface="+mn-ea"/>
              <a:cs typeface="Cascadia Code SemiLight" panose="020B0609020000020004" pitchFamily="49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FCC3228-C152-5588-7214-359D87EC402A}"/>
              </a:ext>
            </a:extLst>
          </p:cNvPr>
          <p:cNvSpPr/>
          <p:nvPr/>
        </p:nvSpPr>
        <p:spPr>
          <a:xfrm>
            <a:off x="812800" y="507365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F6CADD8-F6E4-C66E-78A1-711E13EDA3AD}"/>
              </a:ext>
            </a:extLst>
          </p:cNvPr>
          <p:cNvSpPr/>
          <p:nvPr/>
        </p:nvSpPr>
        <p:spPr>
          <a:xfrm>
            <a:off x="762000" y="5441950"/>
            <a:ext cx="190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THE TASK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45A7ECF-8DAF-0CCD-30FF-06E971548F7E}"/>
              </a:ext>
            </a:extLst>
          </p:cNvPr>
          <p:cNvSpPr/>
          <p:nvPr/>
        </p:nvSpPr>
        <p:spPr>
          <a:xfrm>
            <a:off x="2794000" y="5226050"/>
            <a:ext cx="8585200" cy="831850"/>
          </a:xfrm>
          <a:custGeom>
            <a:avLst/>
            <a:gdLst>
              <a:gd name="csX0" fmla="*/ 0 w 8585200"/>
              <a:gd name="csY0" fmla="*/ 0 h 831850"/>
              <a:gd name="csX1" fmla="*/ 486495 w 8585200"/>
              <a:gd name="csY1" fmla="*/ 0 h 831850"/>
              <a:gd name="csX2" fmla="*/ 801285 w 8585200"/>
              <a:gd name="csY2" fmla="*/ 0 h 831850"/>
              <a:gd name="csX3" fmla="*/ 1545336 w 8585200"/>
              <a:gd name="csY3" fmla="*/ 0 h 831850"/>
              <a:gd name="csX4" fmla="*/ 2031831 w 8585200"/>
              <a:gd name="csY4" fmla="*/ 0 h 831850"/>
              <a:gd name="csX5" fmla="*/ 2518325 w 8585200"/>
              <a:gd name="csY5" fmla="*/ 0 h 831850"/>
              <a:gd name="csX6" fmla="*/ 3262376 w 8585200"/>
              <a:gd name="csY6" fmla="*/ 0 h 831850"/>
              <a:gd name="csX7" fmla="*/ 3663019 w 8585200"/>
              <a:gd name="csY7" fmla="*/ 0 h 831850"/>
              <a:gd name="csX8" fmla="*/ 4407069 w 8585200"/>
              <a:gd name="csY8" fmla="*/ 0 h 831850"/>
              <a:gd name="csX9" fmla="*/ 5151120 w 8585200"/>
              <a:gd name="csY9" fmla="*/ 0 h 831850"/>
              <a:gd name="csX10" fmla="*/ 5723467 w 8585200"/>
              <a:gd name="csY10" fmla="*/ 0 h 831850"/>
              <a:gd name="csX11" fmla="*/ 6467517 w 8585200"/>
              <a:gd name="csY11" fmla="*/ 0 h 831850"/>
              <a:gd name="csX12" fmla="*/ 6954012 w 8585200"/>
              <a:gd name="csY12" fmla="*/ 0 h 831850"/>
              <a:gd name="csX13" fmla="*/ 7440507 w 8585200"/>
              <a:gd name="csY13" fmla="*/ 0 h 831850"/>
              <a:gd name="csX14" fmla="*/ 8098705 w 8585200"/>
              <a:gd name="csY14" fmla="*/ 0 h 831850"/>
              <a:gd name="csX15" fmla="*/ 8585200 w 8585200"/>
              <a:gd name="csY15" fmla="*/ 0 h 831850"/>
              <a:gd name="csX16" fmla="*/ 8585200 w 8585200"/>
              <a:gd name="csY16" fmla="*/ 432562 h 831850"/>
              <a:gd name="csX17" fmla="*/ 8585200 w 8585200"/>
              <a:gd name="csY17" fmla="*/ 831850 h 831850"/>
              <a:gd name="csX18" fmla="*/ 7927001 w 8585200"/>
              <a:gd name="csY18" fmla="*/ 831850 h 831850"/>
              <a:gd name="csX19" fmla="*/ 7612211 w 8585200"/>
              <a:gd name="csY19" fmla="*/ 831850 h 831850"/>
              <a:gd name="csX20" fmla="*/ 7211568 w 8585200"/>
              <a:gd name="csY20" fmla="*/ 831850 h 831850"/>
              <a:gd name="csX21" fmla="*/ 6467517 w 8585200"/>
              <a:gd name="csY21" fmla="*/ 831850 h 831850"/>
              <a:gd name="csX22" fmla="*/ 5895171 w 8585200"/>
              <a:gd name="csY22" fmla="*/ 831850 h 831850"/>
              <a:gd name="csX23" fmla="*/ 5494528 w 8585200"/>
              <a:gd name="csY23" fmla="*/ 831850 h 831850"/>
              <a:gd name="csX24" fmla="*/ 4922181 w 8585200"/>
              <a:gd name="csY24" fmla="*/ 831850 h 831850"/>
              <a:gd name="csX25" fmla="*/ 4607391 w 8585200"/>
              <a:gd name="csY25" fmla="*/ 831850 h 831850"/>
              <a:gd name="csX26" fmla="*/ 4292600 w 8585200"/>
              <a:gd name="csY26" fmla="*/ 831850 h 831850"/>
              <a:gd name="csX27" fmla="*/ 3720253 w 8585200"/>
              <a:gd name="csY27" fmla="*/ 831850 h 831850"/>
              <a:gd name="csX28" fmla="*/ 3319611 w 8585200"/>
              <a:gd name="csY28" fmla="*/ 831850 h 831850"/>
              <a:gd name="csX29" fmla="*/ 2661412 w 8585200"/>
              <a:gd name="csY29" fmla="*/ 831850 h 831850"/>
              <a:gd name="csX30" fmla="*/ 2260769 w 8585200"/>
              <a:gd name="csY30" fmla="*/ 831850 h 831850"/>
              <a:gd name="csX31" fmla="*/ 1602571 w 8585200"/>
              <a:gd name="csY31" fmla="*/ 831850 h 831850"/>
              <a:gd name="csX32" fmla="*/ 1287780 w 8585200"/>
              <a:gd name="csY32" fmla="*/ 831850 h 831850"/>
              <a:gd name="csX33" fmla="*/ 629581 w 8585200"/>
              <a:gd name="csY33" fmla="*/ 831850 h 831850"/>
              <a:gd name="csX34" fmla="*/ 0 w 8585200"/>
              <a:gd name="csY34" fmla="*/ 831850 h 831850"/>
              <a:gd name="csX35" fmla="*/ 0 w 8585200"/>
              <a:gd name="csY35" fmla="*/ 440881 h 831850"/>
              <a:gd name="csX36" fmla="*/ 0 w 8585200"/>
              <a:gd name="csY36" fmla="*/ 0 h 831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8585200" h="831850" extrusionOk="0">
                <a:moveTo>
                  <a:pt x="0" y="0"/>
                </a:moveTo>
                <a:cubicBezTo>
                  <a:pt x="123669" y="-56153"/>
                  <a:pt x="301204" y="44136"/>
                  <a:pt x="486495" y="0"/>
                </a:cubicBezTo>
                <a:cubicBezTo>
                  <a:pt x="671787" y="-44136"/>
                  <a:pt x="720299" y="11910"/>
                  <a:pt x="801285" y="0"/>
                </a:cubicBezTo>
                <a:cubicBezTo>
                  <a:pt x="882271" y="-11910"/>
                  <a:pt x="1294541" y="34280"/>
                  <a:pt x="1545336" y="0"/>
                </a:cubicBezTo>
                <a:cubicBezTo>
                  <a:pt x="1796131" y="-34280"/>
                  <a:pt x="1912303" y="6383"/>
                  <a:pt x="2031831" y="0"/>
                </a:cubicBezTo>
                <a:cubicBezTo>
                  <a:pt x="2151360" y="-6383"/>
                  <a:pt x="2300096" y="31198"/>
                  <a:pt x="2518325" y="0"/>
                </a:cubicBezTo>
                <a:cubicBezTo>
                  <a:pt x="2736554" y="-31198"/>
                  <a:pt x="2986277" y="41888"/>
                  <a:pt x="3262376" y="0"/>
                </a:cubicBezTo>
                <a:cubicBezTo>
                  <a:pt x="3538475" y="-41888"/>
                  <a:pt x="3501313" y="45811"/>
                  <a:pt x="3663019" y="0"/>
                </a:cubicBezTo>
                <a:cubicBezTo>
                  <a:pt x="3824725" y="-45811"/>
                  <a:pt x="4237061" y="45969"/>
                  <a:pt x="4407069" y="0"/>
                </a:cubicBezTo>
                <a:cubicBezTo>
                  <a:pt x="4577077" y="-45969"/>
                  <a:pt x="4910984" y="10900"/>
                  <a:pt x="5151120" y="0"/>
                </a:cubicBezTo>
                <a:cubicBezTo>
                  <a:pt x="5391256" y="-10900"/>
                  <a:pt x="5554544" y="55696"/>
                  <a:pt x="5723467" y="0"/>
                </a:cubicBezTo>
                <a:cubicBezTo>
                  <a:pt x="5892390" y="-55696"/>
                  <a:pt x="6139999" y="62343"/>
                  <a:pt x="6467517" y="0"/>
                </a:cubicBezTo>
                <a:cubicBezTo>
                  <a:pt x="6795035" y="-62343"/>
                  <a:pt x="6716655" y="27847"/>
                  <a:pt x="6954012" y="0"/>
                </a:cubicBezTo>
                <a:cubicBezTo>
                  <a:pt x="7191370" y="-27847"/>
                  <a:pt x="7233096" y="51145"/>
                  <a:pt x="7440507" y="0"/>
                </a:cubicBezTo>
                <a:cubicBezTo>
                  <a:pt x="7647918" y="-51145"/>
                  <a:pt x="7826077" y="52058"/>
                  <a:pt x="8098705" y="0"/>
                </a:cubicBezTo>
                <a:cubicBezTo>
                  <a:pt x="8371333" y="-52058"/>
                  <a:pt x="8401397" y="40661"/>
                  <a:pt x="8585200" y="0"/>
                </a:cubicBezTo>
                <a:cubicBezTo>
                  <a:pt x="8632143" y="146184"/>
                  <a:pt x="8539527" y="219714"/>
                  <a:pt x="8585200" y="432562"/>
                </a:cubicBezTo>
                <a:cubicBezTo>
                  <a:pt x="8630873" y="645410"/>
                  <a:pt x="8568770" y="679911"/>
                  <a:pt x="8585200" y="831850"/>
                </a:cubicBezTo>
                <a:cubicBezTo>
                  <a:pt x="8426695" y="901213"/>
                  <a:pt x="8223921" y="831469"/>
                  <a:pt x="7927001" y="831850"/>
                </a:cubicBezTo>
                <a:cubicBezTo>
                  <a:pt x="7630081" y="832231"/>
                  <a:pt x="7683626" y="802297"/>
                  <a:pt x="7612211" y="831850"/>
                </a:cubicBezTo>
                <a:cubicBezTo>
                  <a:pt x="7540796" y="861403"/>
                  <a:pt x="7332921" y="786961"/>
                  <a:pt x="7211568" y="831850"/>
                </a:cubicBezTo>
                <a:cubicBezTo>
                  <a:pt x="7090215" y="876739"/>
                  <a:pt x="6733566" y="820846"/>
                  <a:pt x="6467517" y="831850"/>
                </a:cubicBezTo>
                <a:cubicBezTo>
                  <a:pt x="6201468" y="842854"/>
                  <a:pt x="6009753" y="815238"/>
                  <a:pt x="5895171" y="831850"/>
                </a:cubicBezTo>
                <a:cubicBezTo>
                  <a:pt x="5780589" y="848462"/>
                  <a:pt x="5688682" y="810077"/>
                  <a:pt x="5494528" y="831850"/>
                </a:cubicBezTo>
                <a:cubicBezTo>
                  <a:pt x="5300374" y="853623"/>
                  <a:pt x="5201906" y="817434"/>
                  <a:pt x="4922181" y="831850"/>
                </a:cubicBezTo>
                <a:cubicBezTo>
                  <a:pt x="4642456" y="846266"/>
                  <a:pt x="4747801" y="813822"/>
                  <a:pt x="4607391" y="831850"/>
                </a:cubicBezTo>
                <a:cubicBezTo>
                  <a:pt x="4466981" y="849878"/>
                  <a:pt x="4389653" y="830857"/>
                  <a:pt x="4292600" y="831850"/>
                </a:cubicBezTo>
                <a:cubicBezTo>
                  <a:pt x="4195547" y="832843"/>
                  <a:pt x="3963175" y="784241"/>
                  <a:pt x="3720253" y="831850"/>
                </a:cubicBezTo>
                <a:cubicBezTo>
                  <a:pt x="3477331" y="879459"/>
                  <a:pt x="3475989" y="784796"/>
                  <a:pt x="3319611" y="831850"/>
                </a:cubicBezTo>
                <a:cubicBezTo>
                  <a:pt x="3163233" y="878904"/>
                  <a:pt x="2822553" y="780854"/>
                  <a:pt x="2661412" y="831850"/>
                </a:cubicBezTo>
                <a:cubicBezTo>
                  <a:pt x="2500271" y="882846"/>
                  <a:pt x="2385021" y="803222"/>
                  <a:pt x="2260769" y="831850"/>
                </a:cubicBezTo>
                <a:cubicBezTo>
                  <a:pt x="2136517" y="860478"/>
                  <a:pt x="1768763" y="776705"/>
                  <a:pt x="1602571" y="831850"/>
                </a:cubicBezTo>
                <a:cubicBezTo>
                  <a:pt x="1436379" y="886995"/>
                  <a:pt x="1409043" y="820066"/>
                  <a:pt x="1287780" y="831850"/>
                </a:cubicBezTo>
                <a:cubicBezTo>
                  <a:pt x="1166517" y="843634"/>
                  <a:pt x="875452" y="810642"/>
                  <a:pt x="629581" y="831850"/>
                </a:cubicBezTo>
                <a:cubicBezTo>
                  <a:pt x="383710" y="853058"/>
                  <a:pt x="207254" y="794338"/>
                  <a:pt x="0" y="831850"/>
                </a:cubicBezTo>
                <a:cubicBezTo>
                  <a:pt x="-29808" y="664629"/>
                  <a:pt x="2143" y="522837"/>
                  <a:pt x="0" y="440881"/>
                </a:cubicBezTo>
                <a:cubicBezTo>
                  <a:pt x="-2143" y="358925"/>
                  <a:pt x="32967" y="188590"/>
                  <a:pt x="0" y="0"/>
                </a:cubicBezTo>
                <a:close/>
              </a:path>
            </a:pathLst>
          </a:custGeom>
          <a:noFill/>
          <a:ln w="31750" cap="flat">
            <a:solidFill>
              <a:srgbClr val="FF0000"/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180000" rIns="0" bIns="1800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 Predict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 a subset of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Arial" pitchFamily="34" charset="-122"/>
                <a:cs typeface="Cascadia Code SemiBold" panose="020B0609020000020004" pitchFamily="49" charset="0"/>
              </a:rPr>
              <a:t>players' trajectories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while the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ball is in the air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, </a:t>
            </a:r>
          </a:p>
          <a:p>
            <a:pPr marL="0" marR="0" lvl="0" indent="0" algn="ctr" defTabSz="914400" rtl="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from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raw tracking data up to the throw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9C6A47E-7984-F1BD-7C45-B2497EA6719C}"/>
              </a:ext>
            </a:extLst>
          </p:cNvPr>
          <p:cNvSpPr/>
          <p:nvPr/>
        </p:nvSpPr>
        <p:spPr>
          <a:xfrm>
            <a:off x="812800" y="384175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13E07E7-345C-EE90-98C0-81CBA7D2C7B4}"/>
              </a:ext>
            </a:extLst>
          </p:cNvPr>
          <p:cNvSpPr/>
          <p:nvPr/>
        </p:nvSpPr>
        <p:spPr>
          <a:xfrm>
            <a:off x="762000" y="4032250"/>
            <a:ext cx="190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THE AI ANGLE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C60C4EF-9738-F6AC-E600-D802462A0E36}"/>
              </a:ext>
            </a:extLst>
          </p:cNvPr>
          <p:cNvSpPr/>
          <p:nvPr/>
        </p:nvSpPr>
        <p:spPr>
          <a:xfrm>
            <a:off x="2451092" y="6985000"/>
            <a:ext cx="9195935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Light" panose="020B0609020000020004" pitchFamily="49" charset="0"/>
              <a:ea typeface="+mn-ea"/>
              <a:cs typeface="Cascadia Code SemiLight" panose="020B0609020000020004" pitchFamily="49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C7ABA06-71FE-C2BE-A7FC-5174AC13CA20}"/>
              </a:ext>
            </a:extLst>
          </p:cNvPr>
          <p:cNvSpPr/>
          <p:nvPr/>
        </p:nvSpPr>
        <p:spPr>
          <a:xfrm>
            <a:off x="812800" y="2298700"/>
            <a:ext cx="105664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E0DE0447-EF35-9757-CB85-FC7083F87480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2F284C3-3937-3E50-3632-274A39571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05D3177-DE1A-C08E-8118-5459866676D4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-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     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Big Data Analytics and Text Mining</a:t>
            </a:r>
            <a:r>
              <a:rPr kumimoji="0" lang="en-US" sz="1200" b="1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	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619E0A-8ACB-BA41-0F37-A71216B7A67A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   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Ponzuoli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Giovanni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	    -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>
                  <a:alpha val="50000"/>
                </a:srgbClr>
              </a:solidFill>
              <a:effectLst/>
              <a:uLnTx/>
              <a:uFillTx/>
              <a:latin typeface="Cascadia Code ExtraLight" panose="020B0609020000020004" pitchFamily="49" charset="0"/>
              <a:ea typeface="+mn-ea"/>
              <a:cs typeface="Cascadia Code ExtraLight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F387EA-687D-BA33-8363-9223757B50C4}"/>
              </a:ext>
            </a:extLst>
          </p:cNvPr>
          <p:cNvSpPr txBox="1"/>
          <p:nvPr/>
        </p:nvSpPr>
        <p:spPr>
          <a:xfrm>
            <a:off x="2794000" y="2451100"/>
            <a:ext cx="8585200" cy="1238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American football 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 a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play-based 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sport: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formation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and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routes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are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scripted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, with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receivers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running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precise routes 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and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defenders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covering in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man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or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zone schemes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</a:p>
          <a:p>
            <a:pPr>
              <a:lnSpc>
                <a:spcPct val="145000"/>
              </a:lnSpc>
            </a:pP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but once the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ball 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thrown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the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script ends 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and a few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seconds of movement </a:t>
            </a:r>
            <a:r>
              <a:rPr lang="en-US"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decide the </a:t>
            </a:r>
            <a:r>
              <a:rPr lang="en-US"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outcome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2E8B9F-A9D7-533D-E081-B4207719662B}"/>
              </a:ext>
            </a:extLst>
          </p:cNvPr>
          <p:cNvSpPr txBox="1"/>
          <p:nvPr/>
        </p:nvSpPr>
        <p:spPr>
          <a:xfrm>
            <a:off x="2794000" y="399415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How players move relative to each other and the ball is a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graph-learning problem</a:t>
            </a: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 (players as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nodes</a:t>
            </a: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, relations as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edges</a:t>
            </a: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), a natural fit for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graph neural networks</a:t>
            </a: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 and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attention mechanisms</a:t>
            </a:r>
            <a:endParaRPr lang="en-US" sz="1400" dirty="0">
              <a:solidFill>
                <a:srgbClr val="121417"/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144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TextBox 4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1-2. Setup, Data and Preprocessing</a:t>
            </a:r>
          </a:p>
        </p:txBody>
      </p:sp>
      <p:sp>
        <p:nvSpPr>
          <p:cNvPr id="930" name="label approach"/>
          <p:cNvSpPr/>
          <p:nvPr/>
        </p:nvSpPr>
        <p:spPr>
          <a:xfrm>
            <a:off x="762000" y="1562100"/>
            <a:ext cx="190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THE APPROACH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931" name="text approach"/>
          <p:cNvSpPr txBox="1"/>
          <p:nvPr/>
        </p:nvSpPr>
        <p:spPr>
          <a:xfrm>
            <a:off x="2794000" y="15240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An end-to-end pipeline: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structured feature engineering </a:t>
            </a: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from raw tracking data,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graph construction</a:t>
            </a: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,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attention-based representation learning</a:t>
            </a: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 and a custom </a:t>
            </a:r>
            <a:r>
              <a:rPr lang="en-US" sz="1400" b="1" dirty="0">
                <a:solidFill>
                  <a:srgbClr val="121417"/>
                </a:solidFill>
                <a:latin typeface="Cascadia Code SemiBold" panose="020B0609020000020004" pitchFamily="49" charset="0"/>
                <a:ea typeface="Arial" pitchFamily="34" charset="-122"/>
                <a:cs typeface="Cascadia Code SemiLight" panose="020B0609020000020004" pitchFamily="49" charset="0"/>
              </a:rPr>
              <a:t>multi-term loss</a:t>
            </a:r>
            <a:endParaRPr lang="en-US" sz="1400" dirty="0">
              <a:solidFill>
                <a:srgbClr val="121417"/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27940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75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SETUP AND REPRODUCIBILITY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2755900"/>
            <a:ext cx="8585200" cy="622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A single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Config object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holds every parameter in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one place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. Seeds are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reset at the start of every run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with cuDNN in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deterministic mode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, on a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GPU runtime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(Colab T4)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2800" y="35306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2000" y="37211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DATA LOADING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4000" y="3683000"/>
            <a:ext cx="8585200" cy="622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Weekly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tracking data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(pre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and post-throw) and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supplementary play context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are loaded in parallel into one 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NFLData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object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2800" y="44577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02"/>
          <p:cNvCxnSpPr/>
          <p:nvPr/>
        </p:nvCxnSpPr>
        <p:spPr>
          <a:xfrm>
            <a:off x="812800" y="56896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000" y="46482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CLEANING</a:t>
            </a:r>
            <a:r>
              <a:rPr kumimoji="0" lang="it-IT" sz="1200" b="1" i="0" u="none" strike="noStrike" kern="1200" cap="none" spc="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 AS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spc="75" dirty="0">
                <a:solidFill>
                  <a:srgbClr val="FF0000"/>
                </a:solidFill>
                <a:latin typeface="Cascadia Code SemiBold"/>
              </a:rPr>
              <a:t>MODELING</a:t>
            </a:r>
            <a:endParaRPr kumimoji="0" sz="1200" b="1" i="0" u="none" strike="noStrike" kern="1200" cap="none" spc="7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scadia Code SemiBold"/>
              <a:ea typeface="+mn-ea"/>
              <a:cs typeface="+mn-cs"/>
            </a:endParaRPr>
          </a:p>
        </p:txBody>
      </p:sp>
      <p:sp>
        <p:nvSpPr>
          <p:cNvPr id="26" name="TextBox 101"/>
          <p:cNvSpPr txBox="1"/>
          <p:nvPr/>
        </p:nvSpPr>
        <p:spPr>
          <a:xfrm>
            <a:off x="762000" y="58801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PLAY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4000" y="46101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Inconsistent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position labels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are unified (e.g. LB/MLB to ILB) and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miscoded players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are corrected from physical and usage evidence, so the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one-hot role encoding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stays consistent</a:t>
            </a:r>
          </a:p>
        </p:txBody>
      </p:sp>
      <p:sp>
        <p:nvSpPr>
          <p:cNvPr id="25" name="TextBox 100"/>
          <p:cNvSpPr txBox="1"/>
          <p:nvPr/>
        </p:nvSpPr>
        <p:spPr>
          <a:xfrm>
            <a:off x="2794000" y="5842000"/>
            <a:ext cx="8585200" cy="622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Only plays with a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passer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and at least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K+1 players per frame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are kept, since the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KNN spatial graph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needs that minimum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89B86BF3-3B41-3983-6269-379954C93259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35A359C9-F0B6-40CA-804B-BBB1955EB2AF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FA149EF-4718-569B-6F17-CAFEAD470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D0982EE-EAE1-8B29-83F6-241D8F3A8E62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-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     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Big Data Analytics and Text Mining</a:t>
            </a:r>
            <a:r>
              <a:rPr kumimoji="0" lang="en-US" sz="1200" b="1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	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32AC51-C124-481C-4092-DAEDF7B4DEB5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   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Ponzuoli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Giovanni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	    -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>
                  <a:alpha val="50000"/>
                </a:srgbClr>
              </a:solidFill>
              <a:effectLst/>
              <a:uLnTx/>
              <a:uFillTx/>
              <a:latin typeface="Cascadia Code ExtraLight" panose="020B0609020000020004" pitchFamily="49" charset="0"/>
              <a:ea typeface="+mn-ea"/>
              <a:cs typeface="Cascadia Code ExtraLight" panose="020B0609020000020004" pitchFamily="49" charset="0"/>
            </a:endParaRPr>
          </a:p>
        </p:txBody>
      </p:sp>
      <p:cxnSp>
        <p:nvCxnSpPr>
          <p:cNvPr id="932" name="Connector sep approach"/>
          <p:cNvCxnSpPr/>
          <p:nvPr/>
        </p:nvCxnSpPr>
        <p:spPr>
          <a:xfrm>
            <a:off x="812800" y="26035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62F8598E-0B2E-93AC-9C98-0BE46D3DBC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TextBox 4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121417"/>
                </a:solidFill>
                <a:latin typeface="Cascadia Code SemiBold"/>
              </a:rPr>
              <a:t>3. Players Physique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562100"/>
            <a:ext cx="1905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>
                <a:solidFill>
                  <a:srgbClr val="002060"/>
                </a:solidFill>
                <a:latin typeface="Cascadia Code SemiBold"/>
              </a:rPr>
              <a:t>PHYSICAL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1524000"/>
            <a:ext cx="8585200" cy="622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Light"/>
              </a:rPr>
              <a:t>A per-player table of </a:t>
            </a:r>
            <a:r>
              <a:rPr sz="1400" b="1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age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, </a:t>
            </a:r>
            <a:r>
              <a:rPr sz="1400" b="1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height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,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weight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and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BMI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is built and studied by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position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, since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physical traits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heavily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dictate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role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dynamics on the field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2800" y="22987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2000" y="2489200"/>
            <a:ext cx="1905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FF0000"/>
                </a:solidFill>
                <a:latin typeface="Cascadia Code SemiBold"/>
              </a:rPr>
              <a:t>DUAL 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4000" y="24511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Light"/>
              </a:rPr>
              <a:t>Each attribute is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normalized twice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— a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global z-score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and a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within-position </a:t>
            </a:r>
            <a:endParaRPr lang="it-IT" sz="1400" b="1" dirty="0">
              <a:solidFill>
                <a:srgbClr val="121417"/>
              </a:solidFill>
              <a:latin typeface="Cascadia Code SemiBold"/>
            </a:endParaRPr>
          </a:p>
          <a:p>
            <a:pPr algn="l">
              <a:lnSpc>
                <a:spcPct val="145000"/>
              </a:lnSpc>
            </a:pPr>
            <a:r>
              <a:rPr sz="1400" b="1" dirty="0">
                <a:solidFill>
                  <a:srgbClr val="121417"/>
                </a:solidFill>
                <a:latin typeface="Cascadia Code SemiBold"/>
              </a:rPr>
              <a:t>z-score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— so the network receives both how big a player is overall and how big he is for his specific role</a:t>
            </a:r>
            <a:endParaRPr lang="it-IT" sz="1400" b="0" dirty="0">
              <a:solidFill>
                <a:srgbClr val="121417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6BA2936-9552-C8AA-1EF0-BF18160DAE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1304" r="745" b="15140"/>
          <a:stretch>
            <a:fillRect/>
          </a:stretch>
        </p:blipFill>
        <p:spPr>
          <a:xfrm>
            <a:off x="812800" y="4186856"/>
            <a:ext cx="6713827" cy="1430687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70000"/>
              </a:prstClr>
            </a:outerShdw>
            <a:softEdge rad="25400"/>
          </a:effectLst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CBC2E7CF-7941-927A-27BF-31C242FDB482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8448E609-61B2-4636-F38C-84F19754638C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003268"/>
                </a:solidFill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4A5AB2-BBF7-C837-80E9-25B7C485B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AAFAE43-088E-BE65-92F0-1695E522EB2F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65"/>
              </a:lnSpc>
            </a:pPr>
            <a:r>
              <a:rPr lang="en-US" sz="1200" kern="0" spc="75" dirty="0">
                <a:solidFill>
                  <a:srgbClr val="003268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-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Big Data Analytics and Text Mining</a:t>
            </a:r>
            <a:r>
              <a:rPr lang="en-US" sz="1200" b="1" kern="0" spc="75" dirty="0">
                <a:solidFill>
                  <a:srgbClr val="003268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DB7603-9127-9685-266C-0A75FAF40798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1200" kern="0" spc="75" dirty="0">
                <a:solidFill>
                  <a:srgbClr val="003268"/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Ponzuoli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Giovanni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	    - </a:t>
            </a:r>
            <a:endParaRPr lang="en-US" sz="1200" dirty="0">
              <a:solidFill>
                <a:srgbClr val="003268">
                  <a:alpha val="50000"/>
                </a:srgbClr>
              </a:solidFill>
              <a:latin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38" name="caption table"/>
          <p:cNvSpPr txBox="1"/>
          <p:nvPr/>
        </p:nvSpPr>
        <p:spPr>
          <a:xfrm>
            <a:off x="812799" y="5761834"/>
            <a:ext cx="6713827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it-IT" sz="1050" dirty="0">
                <a:solidFill>
                  <a:srgbClr val="8A8672"/>
                </a:solidFill>
                <a:latin typeface="Cascadia Code SemiLight"/>
              </a:rPr>
              <a:t>players_df.</a:t>
            </a:r>
            <a:r>
              <a:rPr lang="it-IT" sz="1050" b="0" dirty="0">
                <a:solidFill>
                  <a:srgbClr val="8A8672"/>
                </a:solidFill>
                <a:latin typeface="Cascadia Code SemiLight"/>
              </a:rPr>
              <a:t>head(4)</a:t>
            </a:r>
            <a:endParaRPr sz="1050" b="0" dirty="0">
              <a:solidFill>
                <a:srgbClr val="8A8672"/>
              </a:solidFill>
              <a:latin typeface="Cascadia Code SemiLight"/>
            </a:endParaRPr>
          </a:p>
        </p:txBody>
      </p:sp>
      <p:pic>
        <p:nvPicPr>
          <p:cNvPr id="37" name="BMI density by position" descr="bmi_k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227" y="3657600"/>
            <a:ext cx="3496973" cy="248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TextBox 4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800" b="1" dirty="0">
                <a:solidFill>
                  <a:srgbClr val="121417"/>
                </a:solidFill>
                <a:latin typeface="Cascadia Code SemiBold"/>
              </a:rPr>
              <a:t>4. </a:t>
            </a:r>
            <a:r>
              <a:rPr sz="3800" b="1" dirty="0" err="1">
                <a:solidFill>
                  <a:srgbClr val="121417"/>
                </a:solidFill>
                <a:latin typeface="Cascadia Code SemiBold"/>
              </a:rPr>
              <a:t>Plays:Standardization</a:t>
            </a:r>
            <a:r>
              <a:rPr sz="3800" b="1" dirty="0">
                <a:solidFill>
                  <a:srgbClr val="121417"/>
                </a:solidFill>
                <a:latin typeface="Cascadia Code SemiBold"/>
              </a:rPr>
              <a:t> and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562100"/>
            <a:ext cx="190500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002060"/>
                </a:solidFill>
                <a:latin typeface="Cascadia Code SemiBold"/>
              </a:rPr>
              <a:t>DIRECTION STANDARDIZATION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15240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Light"/>
              </a:rPr>
              <a:t>Every play that moves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left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is mirrored so all plays face the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same direction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</a:t>
            </a:r>
            <a:r>
              <a:rPr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—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removing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degree of freedom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the model would otherwise have to learn from data instead of getting for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free</a:t>
            </a:r>
            <a:endParaRPr sz="1400" b="0" dirty="0">
              <a:solidFill>
                <a:srgbClr val="121417"/>
              </a:solidFill>
              <a:latin typeface="Cascadia Code SemiLight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812800" y="26035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2000" y="2794000"/>
            <a:ext cx="190500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FF0000"/>
                </a:solidFill>
                <a:latin typeface="Cascadia Code SemiBold"/>
              </a:rPr>
              <a:t>VISUALIZATION TOOLING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4000" y="27559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Light"/>
              </a:rPr>
              <a:t>Frame-by-frame play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visualization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built here is used to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qualitatively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inspect the trained model's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predictions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against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ground truth</a:t>
            </a:r>
            <a:endParaRPr lang="it-IT" sz="1400" b="1" spc="75" dirty="0">
              <a:solidFill>
                <a:srgbClr val="002060"/>
              </a:solidFill>
              <a:latin typeface="Cascadia Code SemiBold"/>
            </a:endParaRPr>
          </a:p>
          <a:p>
            <a:pPr algn="l">
              <a:lnSpc>
                <a:spcPct val="145000"/>
              </a:lnSpc>
            </a:pPr>
            <a:endParaRPr sz="1400" b="0" dirty="0">
              <a:solidFill>
                <a:srgbClr val="121417"/>
              </a:solidFill>
              <a:latin typeface="Cascadia Code SemiLight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98A0983F-1364-D7AD-601A-80BFAF1C49F9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861D9FF9-62DB-0102-E3E2-9177113A8CD5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003268"/>
                </a:solidFill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85350C-C114-D8A9-4316-C05975095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53D696-31E2-746A-390D-DE21596E868E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65"/>
              </a:lnSpc>
            </a:pPr>
            <a:r>
              <a:rPr lang="en-US" sz="1200" kern="0" spc="75" dirty="0">
                <a:solidFill>
                  <a:srgbClr val="003268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-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Big Data Analytics and Text Mining</a:t>
            </a:r>
            <a:r>
              <a:rPr lang="en-US" sz="1200" b="1" kern="0" spc="75" dirty="0">
                <a:solidFill>
                  <a:srgbClr val="003268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22D538-DBDF-5D49-92CA-49758B8BBE41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1200" kern="0" spc="75" dirty="0">
                <a:solidFill>
                  <a:srgbClr val="003268"/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Ponzuoli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Giovanni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	    - </a:t>
            </a:r>
            <a:endParaRPr lang="en-US" sz="1200" dirty="0">
              <a:solidFill>
                <a:srgbClr val="003268">
                  <a:alpha val="50000"/>
                </a:srgbClr>
              </a:solidFill>
              <a:latin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4" name="TextBox 21">
            <a:extLst>
              <a:ext uri="{FF2B5EF4-FFF2-40B4-BE49-F238E27FC236}">
                <a16:creationId xmlns:a16="http://schemas.microsoft.com/office/drawing/2014/main" id="{7FA70A86-F9D4-A684-C2FB-E5B538CF4FFB}"/>
              </a:ext>
            </a:extLst>
          </p:cNvPr>
          <p:cNvSpPr txBox="1"/>
          <p:nvPr/>
        </p:nvSpPr>
        <p:spPr>
          <a:xfrm>
            <a:off x="812800" y="3987800"/>
            <a:ext cx="3048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spc="75" dirty="0">
                <a:solidFill>
                  <a:srgbClr val="8A8672"/>
                </a:solidFill>
                <a:latin typeface="Cascadia Code SemiBold"/>
              </a:rPr>
              <a:t>F</a:t>
            </a:r>
            <a:r>
              <a:rPr lang="it-IT" sz="1200" b="1" spc="75" dirty="0">
                <a:solidFill>
                  <a:srgbClr val="8A8672"/>
                </a:solidFill>
                <a:latin typeface="Cascadia Code SemiBold"/>
              </a:rPr>
              <a:t>rame</a:t>
            </a:r>
            <a:r>
              <a:rPr sz="1200" b="1" spc="75" dirty="0">
                <a:solidFill>
                  <a:srgbClr val="8A8672"/>
                </a:solidFill>
                <a:latin typeface="Cascadia Code SemiBold"/>
              </a:rPr>
              <a:t> 1  </a:t>
            </a:r>
            <a:r>
              <a:rPr lang="it-IT" sz="1200" b="1" spc="75" dirty="0">
                <a:solidFill>
                  <a:srgbClr val="8A8672"/>
                </a:solidFill>
                <a:latin typeface="Cascadia Code SemiBold"/>
              </a:rPr>
              <a:t>-</a:t>
            </a:r>
            <a:r>
              <a:rPr sz="1200" b="1" spc="75" dirty="0">
                <a:solidFill>
                  <a:srgbClr val="8A8672"/>
                </a:solidFill>
                <a:latin typeface="Cascadia Code SemiBold"/>
              </a:rPr>
              <a:t>  </a:t>
            </a:r>
            <a:r>
              <a:rPr lang="it-IT" sz="1200" b="1" spc="75" dirty="0">
                <a:solidFill>
                  <a:srgbClr val="8A8672"/>
                </a:solidFill>
                <a:latin typeface="Cascadia Code SemiBold"/>
              </a:rPr>
              <a:t>Start</a:t>
            </a:r>
            <a:endParaRPr sz="1200" b="1" spc="75" dirty="0">
              <a:solidFill>
                <a:srgbClr val="8A8672"/>
              </a:solidFill>
              <a:latin typeface="Cascadia Code SemiBold"/>
            </a:endParaRPr>
          </a:p>
        </p:txBody>
      </p:sp>
      <p:pic>
        <p:nvPicPr>
          <p:cNvPr id="11" name="Play f01">
            <a:extLst>
              <a:ext uri="{FF2B5EF4-FFF2-40B4-BE49-F238E27FC236}">
                <a16:creationId xmlns:a16="http://schemas.microsoft.com/office/drawing/2014/main" id="{510BC394-8997-CB35-7185-20E669736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4178300"/>
            <a:ext cx="3048000" cy="2247900"/>
          </a:xfrm>
          <a:prstGeom prst="rect">
            <a:avLst/>
          </a:prstGeom>
          <a:solidFill>
            <a:srgbClr val="F6F5EF"/>
          </a:solidFill>
        </p:spPr>
      </p:pic>
      <p:sp>
        <p:nvSpPr>
          <p:cNvPr id="13" name="Frame border f01">
            <a:extLst>
              <a:ext uri="{FF2B5EF4-FFF2-40B4-BE49-F238E27FC236}">
                <a16:creationId xmlns:a16="http://schemas.microsoft.com/office/drawing/2014/main" id="{DF7B700F-E1FA-5362-1813-06405CD01C42}"/>
              </a:ext>
            </a:extLst>
          </p:cNvPr>
          <p:cNvSpPr/>
          <p:nvPr/>
        </p:nvSpPr>
        <p:spPr>
          <a:xfrm>
            <a:off x="812800" y="4178300"/>
            <a:ext cx="3048000" cy="2247900"/>
          </a:xfrm>
          <a:prstGeom prst="rect">
            <a:avLst/>
          </a:prstGeom>
          <a:noFill/>
          <a:ln w="9525">
            <a:solidFill>
              <a:srgbClr val="8A8672"/>
            </a:solidFill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E6446C7E-1C06-D634-6268-B7FF45AA812F}"/>
              </a:ext>
            </a:extLst>
          </p:cNvPr>
          <p:cNvSpPr txBox="1"/>
          <p:nvPr/>
        </p:nvSpPr>
        <p:spPr>
          <a:xfrm>
            <a:off x="4572000" y="3987800"/>
            <a:ext cx="3048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spc="75" dirty="0">
                <a:solidFill>
                  <a:srgbClr val="8A8672"/>
                </a:solidFill>
                <a:latin typeface="Cascadia Code SemiBold"/>
              </a:rPr>
              <a:t>F</a:t>
            </a:r>
            <a:r>
              <a:rPr lang="it-IT" sz="1200" b="1" spc="75" dirty="0">
                <a:solidFill>
                  <a:srgbClr val="8A8672"/>
                </a:solidFill>
                <a:latin typeface="Cascadia Code SemiBold"/>
              </a:rPr>
              <a:t>rame</a:t>
            </a:r>
            <a:r>
              <a:rPr sz="1200" b="1" spc="75" dirty="0">
                <a:solidFill>
                  <a:srgbClr val="8A8672"/>
                </a:solidFill>
                <a:latin typeface="Cascadia Code SemiBold"/>
              </a:rPr>
              <a:t> 22  </a:t>
            </a:r>
            <a:r>
              <a:rPr lang="it-IT" sz="1200" b="1" spc="75" dirty="0">
                <a:solidFill>
                  <a:srgbClr val="8A8672"/>
                </a:solidFill>
                <a:latin typeface="Cascadia Code SemiBold"/>
              </a:rPr>
              <a:t>-</a:t>
            </a:r>
            <a:r>
              <a:rPr sz="1200" b="1" spc="75" dirty="0">
                <a:solidFill>
                  <a:srgbClr val="8A8672"/>
                </a:solidFill>
                <a:latin typeface="Cascadia Code SemiBold"/>
              </a:rPr>
              <a:t>  </a:t>
            </a:r>
            <a:r>
              <a:rPr lang="it-IT" sz="1200" b="1" spc="75" dirty="0">
                <a:solidFill>
                  <a:srgbClr val="8A8672"/>
                </a:solidFill>
                <a:latin typeface="Cascadia Code SemiBold"/>
              </a:rPr>
              <a:t>Pre-Pass</a:t>
            </a:r>
            <a:endParaRPr sz="1200" b="1" spc="75" dirty="0">
              <a:solidFill>
                <a:srgbClr val="8A8672"/>
              </a:solidFill>
              <a:latin typeface="Cascadia Code SemiBold"/>
            </a:endParaRPr>
          </a:p>
        </p:txBody>
      </p:sp>
      <p:pic>
        <p:nvPicPr>
          <p:cNvPr id="17" name="Play f22">
            <a:extLst>
              <a:ext uri="{FF2B5EF4-FFF2-40B4-BE49-F238E27FC236}">
                <a16:creationId xmlns:a16="http://schemas.microsoft.com/office/drawing/2014/main" id="{21ED6F21-CD9F-3C2B-3F27-1795DA09E4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178300"/>
            <a:ext cx="3048000" cy="2247900"/>
          </a:xfrm>
          <a:prstGeom prst="rect">
            <a:avLst/>
          </a:prstGeom>
          <a:solidFill>
            <a:srgbClr val="F6F5EF"/>
          </a:solidFill>
        </p:spPr>
      </p:pic>
      <p:sp>
        <p:nvSpPr>
          <p:cNvPr id="19" name="Frame border f22">
            <a:extLst>
              <a:ext uri="{FF2B5EF4-FFF2-40B4-BE49-F238E27FC236}">
                <a16:creationId xmlns:a16="http://schemas.microsoft.com/office/drawing/2014/main" id="{2E53D6E7-C6CE-1479-C1A6-F181C307EA92}"/>
              </a:ext>
            </a:extLst>
          </p:cNvPr>
          <p:cNvSpPr/>
          <p:nvPr/>
        </p:nvSpPr>
        <p:spPr>
          <a:xfrm>
            <a:off x="4572000" y="4178300"/>
            <a:ext cx="3048000" cy="2247900"/>
          </a:xfrm>
          <a:prstGeom prst="rect">
            <a:avLst/>
          </a:prstGeom>
          <a:noFill/>
          <a:ln w="9525">
            <a:solidFill>
              <a:srgbClr val="8A8672"/>
            </a:solidFill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27">
            <a:extLst>
              <a:ext uri="{FF2B5EF4-FFF2-40B4-BE49-F238E27FC236}">
                <a16:creationId xmlns:a16="http://schemas.microsoft.com/office/drawing/2014/main" id="{BCD1746B-0C58-E3B6-24D9-4149102A9146}"/>
              </a:ext>
            </a:extLst>
          </p:cNvPr>
          <p:cNvSpPr txBox="1"/>
          <p:nvPr/>
        </p:nvSpPr>
        <p:spPr>
          <a:xfrm>
            <a:off x="8331200" y="3987800"/>
            <a:ext cx="3048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spc="75" dirty="0">
                <a:solidFill>
                  <a:srgbClr val="8A8672"/>
                </a:solidFill>
                <a:latin typeface="Cascadia Code SemiBold"/>
              </a:rPr>
              <a:t>F</a:t>
            </a:r>
            <a:r>
              <a:rPr lang="it-IT" sz="1200" b="1" spc="75" dirty="0">
                <a:solidFill>
                  <a:srgbClr val="8A8672"/>
                </a:solidFill>
                <a:latin typeface="Cascadia Code SemiBold"/>
              </a:rPr>
              <a:t>rame</a:t>
            </a:r>
            <a:r>
              <a:rPr sz="1200" b="1" spc="75" dirty="0">
                <a:solidFill>
                  <a:srgbClr val="8A8672"/>
                </a:solidFill>
                <a:latin typeface="Cascadia Code SemiBold"/>
              </a:rPr>
              <a:t> 34  </a:t>
            </a:r>
            <a:r>
              <a:rPr lang="it-IT" sz="1200" b="1" spc="75" dirty="0">
                <a:solidFill>
                  <a:srgbClr val="8A8672"/>
                </a:solidFill>
                <a:latin typeface="Cascadia Code SemiBold"/>
              </a:rPr>
              <a:t>-</a:t>
            </a:r>
            <a:r>
              <a:rPr sz="1200" b="1" spc="75" dirty="0">
                <a:solidFill>
                  <a:srgbClr val="8A8672"/>
                </a:solidFill>
                <a:latin typeface="Cascadia Code SemiBold"/>
              </a:rPr>
              <a:t>  </a:t>
            </a:r>
            <a:r>
              <a:rPr lang="it-IT" sz="1200" b="1" spc="75" dirty="0">
                <a:solidFill>
                  <a:srgbClr val="8A8672"/>
                </a:solidFill>
                <a:latin typeface="Cascadia Code SemiBold"/>
              </a:rPr>
              <a:t>Post-Pass</a:t>
            </a:r>
            <a:endParaRPr sz="1200" b="1" spc="75" dirty="0">
              <a:solidFill>
                <a:srgbClr val="8A8672"/>
              </a:solidFill>
              <a:latin typeface="Cascadia Code SemiBold"/>
            </a:endParaRPr>
          </a:p>
        </p:txBody>
      </p:sp>
      <p:pic>
        <p:nvPicPr>
          <p:cNvPr id="22" name="Play f34">
            <a:extLst>
              <a:ext uri="{FF2B5EF4-FFF2-40B4-BE49-F238E27FC236}">
                <a16:creationId xmlns:a16="http://schemas.microsoft.com/office/drawing/2014/main" id="{97D5E7D9-E5AC-14F0-557F-8AF92A7A0C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200" y="4178300"/>
            <a:ext cx="3048000" cy="2247900"/>
          </a:xfrm>
          <a:prstGeom prst="rect">
            <a:avLst/>
          </a:prstGeom>
          <a:solidFill>
            <a:srgbClr val="F6F5EF"/>
          </a:solidFill>
        </p:spPr>
      </p:pic>
      <p:sp>
        <p:nvSpPr>
          <p:cNvPr id="23" name="Frame border f34">
            <a:extLst>
              <a:ext uri="{FF2B5EF4-FFF2-40B4-BE49-F238E27FC236}">
                <a16:creationId xmlns:a16="http://schemas.microsoft.com/office/drawing/2014/main" id="{405FEB9A-C146-D4B6-F670-5CBBAFF51B76}"/>
              </a:ext>
            </a:extLst>
          </p:cNvPr>
          <p:cNvSpPr/>
          <p:nvPr/>
        </p:nvSpPr>
        <p:spPr>
          <a:xfrm>
            <a:off x="8331200" y="4178300"/>
            <a:ext cx="3048000" cy="2247900"/>
          </a:xfrm>
          <a:prstGeom prst="rect">
            <a:avLst/>
          </a:prstGeom>
          <a:noFill/>
          <a:ln w="9525">
            <a:solidFill>
              <a:srgbClr val="8A8672"/>
            </a:solidFill>
          </a:ln>
          <a:effectLst/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11D225C-1454-2CAF-59B4-62556FF527A7}"/>
              </a:ext>
            </a:extLst>
          </p:cNvPr>
          <p:cNvGrpSpPr/>
          <p:nvPr/>
        </p:nvGrpSpPr>
        <p:grpSpPr>
          <a:xfrm>
            <a:off x="4519397" y="6584950"/>
            <a:ext cx="992187" cy="161583"/>
            <a:chOff x="1543050" y="6546187"/>
            <a:chExt cx="992187" cy="161583"/>
          </a:xfrm>
        </p:grpSpPr>
        <p:sp>
          <p:nvSpPr>
            <p:cNvPr id="24" name="TextBox 30">
              <a:extLst>
                <a:ext uri="{FF2B5EF4-FFF2-40B4-BE49-F238E27FC236}">
                  <a16:creationId xmlns:a16="http://schemas.microsoft.com/office/drawing/2014/main" id="{4CDF8BAC-793C-89E1-319D-3D0DE293FAA9}"/>
                </a:ext>
              </a:extLst>
            </p:cNvPr>
            <p:cNvSpPr txBox="1"/>
            <p:nvPr/>
          </p:nvSpPr>
          <p:spPr>
            <a:xfrm>
              <a:off x="1595437" y="6546187"/>
              <a:ext cx="93980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0" dirty="0">
                  <a:solidFill>
                    <a:srgbClr val="8A8672"/>
                  </a:solidFill>
                  <a:latin typeface="Cascadia Code SemiLight"/>
                </a:rPr>
                <a:t>  offense 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F6D8B1E-6ABC-C757-16E4-5C991619EAE3}"/>
                </a:ext>
              </a:extLst>
            </p:cNvPr>
            <p:cNvSpPr/>
            <p:nvPr/>
          </p:nvSpPr>
          <p:spPr>
            <a:xfrm>
              <a:off x="1543050" y="6573297"/>
              <a:ext cx="104775" cy="104775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8E659A5-ACF6-72CF-BF32-E6ED641A87DF}"/>
              </a:ext>
            </a:extLst>
          </p:cNvPr>
          <p:cNvGrpSpPr/>
          <p:nvPr/>
        </p:nvGrpSpPr>
        <p:grpSpPr>
          <a:xfrm>
            <a:off x="5679885" y="6584950"/>
            <a:ext cx="992187" cy="161583"/>
            <a:chOff x="1543050" y="6546187"/>
            <a:chExt cx="992187" cy="16158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8EB88F7-7EC4-97CB-AE56-B88063CCAC90}"/>
                </a:ext>
              </a:extLst>
            </p:cNvPr>
            <p:cNvSpPr txBox="1"/>
            <p:nvPr/>
          </p:nvSpPr>
          <p:spPr>
            <a:xfrm>
              <a:off x="1595437" y="6546187"/>
              <a:ext cx="93980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0" dirty="0">
                  <a:solidFill>
                    <a:srgbClr val="8A8672"/>
                  </a:solidFill>
                  <a:latin typeface="Cascadia Code SemiLight"/>
                </a:rPr>
                <a:t>  passer 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2C6CD72-A56A-F47A-478E-2A90E56D6095}"/>
                </a:ext>
              </a:extLst>
            </p:cNvPr>
            <p:cNvSpPr/>
            <p:nvPr/>
          </p:nvSpPr>
          <p:spPr>
            <a:xfrm>
              <a:off x="1543050" y="6573297"/>
              <a:ext cx="104775" cy="104775"/>
            </a:xfrm>
            <a:prstGeom prst="ellipse">
              <a:avLst/>
            </a:prstGeom>
            <a:solidFill>
              <a:srgbClr val="7DC6E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3DF8AD2-F72F-C03E-167D-6F26CA3E6C51}"/>
              </a:ext>
            </a:extLst>
          </p:cNvPr>
          <p:cNvGrpSpPr/>
          <p:nvPr/>
        </p:nvGrpSpPr>
        <p:grpSpPr>
          <a:xfrm>
            <a:off x="6762229" y="6584950"/>
            <a:ext cx="992187" cy="161583"/>
            <a:chOff x="1543050" y="6546187"/>
            <a:chExt cx="992187" cy="16158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1B20517-3FAD-DDF0-3D0A-8A9BB86432F5}"/>
                </a:ext>
              </a:extLst>
            </p:cNvPr>
            <p:cNvSpPr txBox="1"/>
            <p:nvPr/>
          </p:nvSpPr>
          <p:spPr>
            <a:xfrm>
              <a:off x="1595437" y="6546187"/>
              <a:ext cx="93980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0" dirty="0">
                  <a:solidFill>
                    <a:srgbClr val="8A8672"/>
                  </a:solidFill>
                  <a:latin typeface="Cascadia Code SemiLight"/>
                </a:rPr>
                <a:t>  defense 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2F7D1CE-4E8B-6478-EE11-167DCCEBF3F6}"/>
                </a:ext>
              </a:extLst>
            </p:cNvPr>
            <p:cNvSpPr/>
            <p:nvPr/>
          </p:nvSpPr>
          <p:spPr>
            <a:xfrm>
              <a:off x="1543050" y="6573297"/>
              <a:ext cx="104775" cy="10477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FE22614-305E-125C-D821-4E0E4275079D}"/>
              </a:ext>
            </a:extLst>
          </p:cNvPr>
          <p:cNvGrpSpPr/>
          <p:nvPr/>
        </p:nvGrpSpPr>
        <p:grpSpPr>
          <a:xfrm>
            <a:off x="7922717" y="6584950"/>
            <a:ext cx="992187" cy="161583"/>
            <a:chOff x="1543050" y="6546187"/>
            <a:chExt cx="992187" cy="16158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D6F8F17-EB1B-4EF1-4CFE-EA8A355FEDC9}"/>
                </a:ext>
              </a:extLst>
            </p:cNvPr>
            <p:cNvSpPr txBox="1"/>
            <p:nvPr/>
          </p:nvSpPr>
          <p:spPr>
            <a:xfrm>
              <a:off x="1595437" y="6546187"/>
              <a:ext cx="93980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0" dirty="0">
                  <a:solidFill>
                    <a:srgbClr val="8A8672"/>
                  </a:solidFill>
                  <a:latin typeface="Cascadia Code SemiLight"/>
                </a:rPr>
                <a:t>  target 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F03700B-61C1-D535-C3E3-61D9965A35A8}"/>
                </a:ext>
              </a:extLst>
            </p:cNvPr>
            <p:cNvSpPr/>
            <p:nvPr/>
          </p:nvSpPr>
          <p:spPr>
            <a:xfrm>
              <a:off x="1543050" y="6573297"/>
              <a:ext cx="104775" cy="104775"/>
            </a:xfrm>
            <a:prstGeom prst="ellipse">
              <a:avLst/>
            </a:prstGeom>
            <a:solidFill>
              <a:srgbClr val="003268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78CD310-F42C-F323-A8E9-52103749151E}"/>
              </a:ext>
            </a:extLst>
          </p:cNvPr>
          <p:cNvGrpSpPr/>
          <p:nvPr/>
        </p:nvGrpSpPr>
        <p:grpSpPr>
          <a:xfrm>
            <a:off x="3593338" y="6584950"/>
            <a:ext cx="992187" cy="161583"/>
            <a:chOff x="1543050" y="6546187"/>
            <a:chExt cx="992187" cy="16158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0FAB247-5460-1CAC-54F1-E0A6B125B629}"/>
                </a:ext>
              </a:extLst>
            </p:cNvPr>
            <p:cNvSpPr txBox="1"/>
            <p:nvPr/>
          </p:nvSpPr>
          <p:spPr>
            <a:xfrm>
              <a:off x="1595437" y="6546187"/>
              <a:ext cx="93980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0" dirty="0">
                  <a:solidFill>
                    <a:srgbClr val="8A8672"/>
                  </a:solidFill>
                  <a:latin typeface="Cascadia Code SemiLight"/>
                </a:rPr>
                <a:t>  ball 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CE045D1-5059-BFBC-FAC2-1F1CCD292BEE}"/>
                </a:ext>
              </a:extLst>
            </p:cNvPr>
            <p:cNvSpPr/>
            <p:nvPr/>
          </p:nvSpPr>
          <p:spPr>
            <a:xfrm>
              <a:off x="1543050" y="6573297"/>
              <a:ext cx="104775" cy="104775"/>
            </a:xfrm>
            <a:prstGeom prst="ellipse">
              <a:avLst/>
            </a:prstGeom>
            <a:solidFill>
              <a:srgbClr val="FFA5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89BEA89F-5650-3E77-5C18-4F3646F0B156}"/>
              </a:ext>
            </a:extLst>
          </p:cNvPr>
          <p:cNvSpPr/>
          <p:nvPr/>
        </p:nvSpPr>
        <p:spPr>
          <a:xfrm>
            <a:off x="8147050" y="3930650"/>
            <a:ext cx="3498850" cy="2628900"/>
          </a:xfrm>
          <a:custGeom>
            <a:avLst/>
            <a:gdLst>
              <a:gd name="csX0" fmla="*/ 0 w 3498850"/>
              <a:gd name="csY0" fmla="*/ 0 h 2628900"/>
              <a:gd name="csX1" fmla="*/ 548153 w 3498850"/>
              <a:gd name="csY1" fmla="*/ 0 h 2628900"/>
              <a:gd name="csX2" fmla="*/ 1026329 w 3498850"/>
              <a:gd name="csY2" fmla="*/ 0 h 2628900"/>
              <a:gd name="csX3" fmla="*/ 1679448 w 3498850"/>
              <a:gd name="csY3" fmla="*/ 0 h 2628900"/>
              <a:gd name="csX4" fmla="*/ 2227601 w 3498850"/>
              <a:gd name="csY4" fmla="*/ 0 h 2628900"/>
              <a:gd name="csX5" fmla="*/ 2775754 w 3498850"/>
              <a:gd name="csY5" fmla="*/ 0 h 2628900"/>
              <a:gd name="csX6" fmla="*/ 3498850 w 3498850"/>
              <a:gd name="csY6" fmla="*/ 0 h 2628900"/>
              <a:gd name="csX7" fmla="*/ 3498850 w 3498850"/>
              <a:gd name="csY7" fmla="*/ 473202 h 2628900"/>
              <a:gd name="csX8" fmla="*/ 3498850 w 3498850"/>
              <a:gd name="csY8" fmla="*/ 998982 h 2628900"/>
              <a:gd name="csX9" fmla="*/ 3498850 w 3498850"/>
              <a:gd name="csY9" fmla="*/ 1472184 h 2628900"/>
              <a:gd name="csX10" fmla="*/ 3498850 w 3498850"/>
              <a:gd name="csY10" fmla="*/ 1945386 h 2628900"/>
              <a:gd name="csX11" fmla="*/ 3498850 w 3498850"/>
              <a:gd name="csY11" fmla="*/ 2628900 h 2628900"/>
              <a:gd name="csX12" fmla="*/ 2880720 w 3498850"/>
              <a:gd name="csY12" fmla="*/ 2628900 h 2628900"/>
              <a:gd name="csX13" fmla="*/ 2227601 w 3498850"/>
              <a:gd name="csY13" fmla="*/ 2628900 h 2628900"/>
              <a:gd name="csX14" fmla="*/ 1574483 w 3498850"/>
              <a:gd name="csY14" fmla="*/ 2628900 h 2628900"/>
              <a:gd name="csX15" fmla="*/ 1061318 w 3498850"/>
              <a:gd name="csY15" fmla="*/ 2628900 h 2628900"/>
              <a:gd name="csX16" fmla="*/ 0 w 3498850"/>
              <a:gd name="csY16" fmla="*/ 2628900 h 2628900"/>
              <a:gd name="csX17" fmla="*/ 0 w 3498850"/>
              <a:gd name="csY17" fmla="*/ 2050542 h 2628900"/>
              <a:gd name="csX18" fmla="*/ 0 w 3498850"/>
              <a:gd name="csY18" fmla="*/ 1603629 h 2628900"/>
              <a:gd name="csX19" fmla="*/ 0 w 3498850"/>
              <a:gd name="csY19" fmla="*/ 1130427 h 2628900"/>
              <a:gd name="csX20" fmla="*/ 0 w 3498850"/>
              <a:gd name="csY20" fmla="*/ 657225 h 2628900"/>
              <a:gd name="csX21" fmla="*/ 0 w 3498850"/>
              <a:gd name="csY21" fmla="*/ 0 h 262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498850" h="2628900" extrusionOk="0">
                <a:moveTo>
                  <a:pt x="0" y="0"/>
                </a:moveTo>
                <a:cubicBezTo>
                  <a:pt x="199645" y="-25681"/>
                  <a:pt x="298146" y="21458"/>
                  <a:pt x="548153" y="0"/>
                </a:cubicBezTo>
                <a:cubicBezTo>
                  <a:pt x="798160" y="-21458"/>
                  <a:pt x="909598" y="55608"/>
                  <a:pt x="1026329" y="0"/>
                </a:cubicBezTo>
                <a:cubicBezTo>
                  <a:pt x="1143060" y="-55608"/>
                  <a:pt x="1410788" y="21734"/>
                  <a:pt x="1679448" y="0"/>
                </a:cubicBezTo>
                <a:cubicBezTo>
                  <a:pt x="1948108" y="-21734"/>
                  <a:pt x="2015089" y="33719"/>
                  <a:pt x="2227601" y="0"/>
                </a:cubicBezTo>
                <a:cubicBezTo>
                  <a:pt x="2440113" y="-33719"/>
                  <a:pt x="2663949" y="6869"/>
                  <a:pt x="2775754" y="0"/>
                </a:cubicBezTo>
                <a:cubicBezTo>
                  <a:pt x="2887559" y="-6869"/>
                  <a:pt x="3194782" y="57649"/>
                  <a:pt x="3498850" y="0"/>
                </a:cubicBezTo>
                <a:cubicBezTo>
                  <a:pt x="3549067" y="218851"/>
                  <a:pt x="3451836" y="264269"/>
                  <a:pt x="3498850" y="473202"/>
                </a:cubicBezTo>
                <a:cubicBezTo>
                  <a:pt x="3545864" y="682135"/>
                  <a:pt x="3454865" y="770767"/>
                  <a:pt x="3498850" y="998982"/>
                </a:cubicBezTo>
                <a:cubicBezTo>
                  <a:pt x="3542835" y="1227197"/>
                  <a:pt x="3457256" y="1356548"/>
                  <a:pt x="3498850" y="1472184"/>
                </a:cubicBezTo>
                <a:cubicBezTo>
                  <a:pt x="3540444" y="1587820"/>
                  <a:pt x="3482222" y="1810028"/>
                  <a:pt x="3498850" y="1945386"/>
                </a:cubicBezTo>
                <a:cubicBezTo>
                  <a:pt x="3515478" y="2080744"/>
                  <a:pt x="3435337" y="2458445"/>
                  <a:pt x="3498850" y="2628900"/>
                </a:cubicBezTo>
                <a:cubicBezTo>
                  <a:pt x="3283270" y="2677479"/>
                  <a:pt x="3045327" y="2614167"/>
                  <a:pt x="2880720" y="2628900"/>
                </a:cubicBezTo>
                <a:cubicBezTo>
                  <a:pt x="2716113" y="2643633"/>
                  <a:pt x="2486851" y="2587693"/>
                  <a:pt x="2227601" y="2628900"/>
                </a:cubicBezTo>
                <a:cubicBezTo>
                  <a:pt x="1968351" y="2670107"/>
                  <a:pt x="1829990" y="2578441"/>
                  <a:pt x="1574483" y="2628900"/>
                </a:cubicBezTo>
                <a:cubicBezTo>
                  <a:pt x="1318976" y="2679359"/>
                  <a:pt x="1263521" y="2581391"/>
                  <a:pt x="1061318" y="2628900"/>
                </a:cubicBezTo>
                <a:cubicBezTo>
                  <a:pt x="859116" y="2676409"/>
                  <a:pt x="391009" y="2568704"/>
                  <a:pt x="0" y="2628900"/>
                </a:cubicBezTo>
                <a:cubicBezTo>
                  <a:pt x="-19050" y="2347759"/>
                  <a:pt x="54556" y="2213687"/>
                  <a:pt x="0" y="2050542"/>
                </a:cubicBezTo>
                <a:cubicBezTo>
                  <a:pt x="-54556" y="1887397"/>
                  <a:pt x="21473" y="1796031"/>
                  <a:pt x="0" y="1603629"/>
                </a:cubicBezTo>
                <a:cubicBezTo>
                  <a:pt x="-21473" y="1411227"/>
                  <a:pt x="12188" y="1331942"/>
                  <a:pt x="0" y="1130427"/>
                </a:cubicBezTo>
                <a:cubicBezTo>
                  <a:pt x="-12188" y="928912"/>
                  <a:pt x="16925" y="773352"/>
                  <a:pt x="0" y="657225"/>
                </a:cubicBezTo>
                <a:cubicBezTo>
                  <a:pt x="-16925" y="541098"/>
                  <a:pt x="3143" y="273710"/>
                  <a:pt x="0" y="0"/>
                </a:cubicBezTo>
                <a:close/>
              </a:path>
            </a:pathLst>
          </a:custGeom>
          <a:noFill/>
          <a:ln w="317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EDD2D1-78D8-4DAC-D2FB-0CFB2C78539B}"/>
              </a:ext>
            </a:extLst>
          </p:cNvPr>
          <p:cNvSpPr txBox="1"/>
          <p:nvPr/>
        </p:nvSpPr>
        <p:spPr>
          <a:xfrm>
            <a:off x="10420350" y="6565900"/>
            <a:ext cx="15623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 spc="75" dirty="0">
                <a:solidFill>
                  <a:srgbClr val="FF0000"/>
                </a:solidFill>
                <a:latin typeface="Cascadia Code SemiBold"/>
              </a:rPr>
              <a:t>Part to Predict</a:t>
            </a:r>
            <a:endParaRPr lang="it-IT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TextBox 4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121417"/>
                </a:solidFill>
                <a:latin typeface="Cascadia Code SemiBold"/>
              </a:rPr>
              <a:t>5. Play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562100"/>
            <a:ext cx="190500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002060"/>
                </a:solidFill>
                <a:latin typeface="Cascadia Code SemiBold"/>
              </a:rPr>
              <a:t>BALL-TRAJECTORY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15240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Light"/>
              </a:rPr>
              <a:t>Ball statistics are computed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directly from the tracking data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: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throw time, air time, landing point, travel distance and direction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. They become part of the model's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global input vector</a:t>
            </a:r>
            <a:endParaRPr sz="1400" b="0" dirty="0">
              <a:solidFill>
                <a:srgbClr val="121417"/>
              </a:solidFill>
              <a:latin typeface="Cascadia Code SemiLight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812800" y="26035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2000" y="2794000"/>
            <a:ext cx="190500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FF0000"/>
                </a:solidFill>
                <a:latin typeface="Cascadia Code SemiBold"/>
              </a:rPr>
              <a:t>DESCRIPTIVE VS. MODEL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4000" y="27559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1" dirty="0">
                <a:solidFill>
                  <a:srgbClr val="121417"/>
                </a:solidFill>
                <a:latin typeface="Cascadia Code SemiBold"/>
              </a:rPr>
              <a:t>Receiver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and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defender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statistics are computed as well, but only some of them feed the model; the rest serve the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analysis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alone. This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deliberate separation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keeps what the model sees apart from what is used to understand the data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6EFADD8F-6FED-031C-6E46-2F206E1542C0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AE529C92-2050-ECB8-15B4-E23F24C663D7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003268"/>
                </a:solidFill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E0323C-0E0D-334C-6C0E-14D52744F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DF01F67-85DD-335A-62A7-FE4E367D4860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65"/>
              </a:lnSpc>
            </a:pPr>
            <a:r>
              <a:rPr lang="en-US" sz="1200" kern="0" spc="75" dirty="0">
                <a:solidFill>
                  <a:srgbClr val="003268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-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Big Data Analytics and Text Mining</a:t>
            </a:r>
            <a:r>
              <a:rPr lang="en-US" sz="1200" b="1" kern="0" spc="75" dirty="0">
                <a:solidFill>
                  <a:srgbClr val="003268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36456-D036-084D-BFC3-B1BB7C97963F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1200" kern="0" spc="75" dirty="0">
                <a:solidFill>
                  <a:srgbClr val="003268"/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Ponzuoli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Giovanni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	    - </a:t>
            </a:r>
            <a:endParaRPr lang="en-US" sz="1200" dirty="0">
              <a:solidFill>
                <a:srgbClr val="003268">
                  <a:alpha val="50000"/>
                </a:srgbClr>
              </a:solidFill>
              <a:latin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345CD2-439C-3597-EBD4-78E9638FDF6B}"/>
              </a:ext>
            </a:extLst>
          </p:cNvPr>
          <p:cNvSpPr/>
          <p:nvPr/>
        </p:nvSpPr>
        <p:spPr>
          <a:xfrm>
            <a:off x="3968704" y="3962400"/>
            <a:ext cx="4267200" cy="2483305"/>
          </a:xfrm>
          <a:prstGeom prst="rect">
            <a:avLst/>
          </a:prstGeom>
          <a:solidFill>
            <a:srgbClr val="F6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3" name="Ball geometry" descr="ball_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698" y="3962400"/>
            <a:ext cx="4800600" cy="2400300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3695700" y="6413500"/>
            <a:ext cx="4800600" cy="139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dirty="0">
                <a:solidFill>
                  <a:srgbClr val="8A8672"/>
                </a:solidFill>
                <a:latin typeface="Cascadia Code SemiLight"/>
              </a:rPr>
              <a:t>example play: game 2023101900, play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TextBox 4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121417"/>
                </a:solidFill>
                <a:latin typeface="Cascadia Code SemiBold"/>
              </a:rPr>
              <a:t>6. Model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562100"/>
            <a:ext cx="190500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002060"/>
                </a:solidFill>
                <a:latin typeface="Cascadia Code SemiBold"/>
              </a:rPr>
              <a:t>NODE FEATURES </a:t>
            </a:r>
            <a:endParaRPr lang="it-IT" sz="1200" b="1" spc="75" dirty="0">
              <a:solidFill>
                <a:srgbClr val="002060"/>
              </a:solidFill>
              <a:latin typeface="Cascadia Code SemiBold"/>
            </a:endParaRPr>
          </a:p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002060"/>
                </a:solidFill>
                <a:latin typeface="Cascadia Code SemiBold"/>
              </a:rPr>
              <a:t>(36-DIM)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15240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Kinematics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(position, speed, acceleration, direction, orientation),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one-hot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role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,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physical attributes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(global + within-position z-scores), and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one-hot side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and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position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— one vector per player per frame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2800" y="30480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2000" y="3213100"/>
            <a:ext cx="190500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002060"/>
                </a:solidFill>
                <a:latin typeface="Cascadia Code SemiBold"/>
              </a:rPr>
              <a:t>EDGE FEATURES </a:t>
            </a:r>
            <a:endParaRPr lang="it-IT" sz="1200" b="1" spc="75" dirty="0">
              <a:solidFill>
                <a:srgbClr val="002060"/>
              </a:solidFill>
              <a:latin typeface="Cascadia Code SemiBold"/>
            </a:endParaRPr>
          </a:p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002060"/>
                </a:solidFill>
                <a:latin typeface="Cascadia Code SemiBold"/>
              </a:rPr>
              <a:t>(7-DIM)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4000" y="31750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Two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distinct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edge types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, kept separate on purpose: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spatial edges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(</a:t>
            </a:r>
            <a:r>
              <a:rPr lang="it-IT" sz="1400" dirty="0">
                <a:solidFill>
                  <a:srgbClr val="121417"/>
                </a:solidFill>
                <a:latin typeface="Cascadia Code SemiLight"/>
              </a:rPr>
              <a:t>k-n</a:t>
            </a:r>
            <a:r>
              <a:rPr sz="1400" b="0" dirty="0" err="1">
                <a:solidFill>
                  <a:srgbClr val="121417"/>
                </a:solidFill>
                <a:latin typeface="Cascadia Code SemiLight"/>
              </a:rPr>
              <a:t>earest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players in the same frame) and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temporal edges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(a player linked to himself in the next frame) — each gets its own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attention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branch in the model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2800" y="46990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000" y="48641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FF0000"/>
                </a:solidFill>
                <a:latin typeface="Cascadia Code SemiBold"/>
              </a:rPr>
              <a:t>GLOBAL FEATURES</a:t>
            </a:r>
          </a:p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FF0000"/>
                </a:solidFill>
                <a:latin typeface="Cascadia Code SemiBold"/>
              </a:rPr>
              <a:t>(60-DIM)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4000" y="4826000"/>
            <a:ext cx="8585200" cy="1238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Play-level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context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(score, down, formation, route, expected point</a:t>
            </a:r>
            <a:r>
              <a:rPr lang="it-IT" sz="1400" b="0" dirty="0">
                <a:solidFill>
                  <a:srgbClr val="121417"/>
                </a:solidFill>
                <a:latin typeface="Cascadia Code SemiLight"/>
              </a:rPr>
              <a:t>s, etc.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), controlled by a </a:t>
            </a:r>
            <a:r>
              <a:rPr sz="1400" b="0" dirty="0" err="1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global_mode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switch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that is the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first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axis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of the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ablation study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;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min–max normalization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uses bounds fixed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 priori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, so no validation/test statistic leaks into training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E208B0EF-08EB-8AF8-0F22-779ABA8DA60E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12E1F5F2-3DC9-10B5-8F80-1FC37114F02C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003268"/>
                </a:solidFill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06FA96B-F33F-79B6-BDBA-755260E31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4670F27-F10D-ED90-AD3E-94D2C969269E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65"/>
              </a:lnSpc>
            </a:pPr>
            <a:r>
              <a:rPr lang="en-US" sz="1200" kern="0" spc="75" dirty="0">
                <a:solidFill>
                  <a:srgbClr val="003268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-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Big Data Analytics and Text Mining</a:t>
            </a:r>
            <a:r>
              <a:rPr lang="en-US" sz="1200" b="1" kern="0" spc="75" dirty="0">
                <a:solidFill>
                  <a:srgbClr val="003268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E4023B-3791-70C8-BF4E-E3A5DA1122F7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1200" kern="0" spc="75" dirty="0">
                <a:solidFill>
                  <a:srgbClr val="003268"/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Ponzuoli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Giovanni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	    - </a:t>
            </a:r>
            <a:endParaRPr lang="en-US" sz="1200" dirty="0">
              <a:solidFill>
                <a:srgbClr val="003268">
                  <a:alpha val="50000"/>
                </a:srgbClr>
              </a:solidFill>
              <a:latin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25" name="node kinematics"/>
          <p:cNvSpPr/>
          <p:nvPr/>
        </p:nvSpPr>
        <p:spPr>
          <a:xfrm>
            <a:off x="2794000" y="2540000"/>
            <a:ext cx="1429808" cy="381000"/>
          </a:xfrm>
          <a:prstGeom prst="rect">
            <a:avLst/>
          </a:prstGeom>
          <a:solidFill>
            <a:srgbClr val="EFEDE4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kinematics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6</a:t>
            </a:r>
          </a:p>
        </p:txBody>
      </p:sp>
      <p:sp>
        <p:nvSpPr>
          <p:cNvPr id="26" name="node role"/>
          <p:cNvSpPr/>
          <p:nvPr/>
        </p:nvSpPr>
        <p:spPr>
          <a:xfrm>
            <a:off x="4223808" y="2540000"/>
            <a:ext cx="953206" cy="381000"/>
          </a:xfrm>
          <a:prstGeom prst="rect">
            <a:avLst/>
          </a:prstGeom>
          <a:solidFill>
            <a:srgbClr val="DDD9C9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role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4</a:t>
            </a:r>
          </a:p>
        </p:txBody>
      </p:sp>
      <p:sp>
        <p:nvSpPr>
          <p:cNvPr id="27" name="node physical"/>
          <p:cNvSpPr/>
          <p:nvPr/>
        </p:nvSpPr>
        <p:spPr>
          <a:xfrm>
            <a:off x="5177014" y="2540000"/>
            <a:ext cx="1906411" cy="381000"/>
          </a:xfrm>
          <a:prstGeom prst="rect">
            <a:avLst/>
          </a:prstGeom>
          <a:solidFill>
            <a:srgbClr val="EFEDE4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physical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8</a:t>
            </a:r>
          </a:p>
        </p:txBody>
      </p:sp>
      <p:sp>
        <p:nvSpPr>
          <p:cNvPr id="28" name="node side"/>
          <p:cNvSpPr/>
          <p:nvPr/>
        </p:nvSpPr>
        <p:spPr>
          <a:xfrm>
            <a:off x="7083425" y="2540000"/>
            <a:ext cx="476603" cy="381000"/>
          </a:xfrm>
          <a:prstGeom prst="rect">
            <a:avLst/>
          </a:prstGeom>
          <a:solidFill>
            <a:srgbClr val="DDD9C9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side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2</a:t>
            </a:r>
          </a:p>
        </p:txBody>
      </p:sp>
      <p:sp>
        <p:nvSpPr>
          <p:cNvPr id="29" name="node position"/>
          <p:cNvSpPr/>
          <p:nvPr/>
        </p:nvSpPr>
        <p:spPr>
          <a:xfrm>
            <a:off x="7560028" y="2540000"/>
            <a:ext cx="3812822" cy="381000"/>
          </a:xfrm>
          <a:prstGeom prst="rect">
            <a:avLst/>
          </a:prstGeom>
          <a:solidFill>
            <a:srgbClr val="EFEDE4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position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16</a:t>
            </a:r>
          </a:p>
        </p:txBody>
      </p:sp>
      <p:sp>
        <p:nvSpPr>
          <p:cNvPr id="30" name="edge distance"/>
          <p:cNvSpPr/>
          <p:nvPr/>
        </p:nvSpPr>
        <p:spPr>
          <a:xfrm>
            <a:off x="2794000" y="4191000"/>
            <a:ext cx="1225550" cy="381000"/>
          </a:xfrm>
          <a:prstGeom prst="rect">
            <a:avLst/>
          </a:prstGeom>
          <a:solidFill>
            <a:srgbClr val="EFEDE4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distance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1</a:t>
            </a:r>
          </a:p>
        </p:txBody>
      </p:sp>
      <p:sp>
        <p:nvSpPr>
          <p:cNvPr id="31" name="edge dx"/>
          <p:cNvSpPr/>
          <p:nvPr/>
        </p:nvSpPr>
        <p:spPr>
          <a:xfrm>
            <a:off x="4019550" y="4191000"/>
            <a:ext cx="1225550" cy="381000"/>
          </a:xfrm>
          <a:prstGeom prst="rect">
            <a:avLst/>
          </a:prstGeom>
          <a:solidFill>
            <a:srgbClr val="DDD9C9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dx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1</a:t>
            </a:r>
          </a:p>
        </p:txBody>
      </p:sp>
      <p:sp>
        <p:nvSpPr>
          <p:cNvPr id="32" name="edge dy"/>
          <p:cNvSpPr/>
          <p:nvPr/>
        </p:nvSpPr>
        <p:spPr>
          <a:xfrm>
            <a:off x="5245100" y="4191000"/>
            <a:ext cx="1225550" cy="381000"/>
          </a:xfrm>
          <a:prstGeom prst="rect">
            <a:avLst/>
          </a:prstGeom>
          <a:solidFill>
            <a:srgbClr val="EFEDE4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dy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1</a:t>
            </a:r>
          </a:p>
        </p:txBody>
      </p:sp>
      <p:sp>
        <p:nvSpPr>
          <p:cNvPr id="33" name="edge Δ speed"/>
          <p:cNvSpPr/>
          <p:nvPr/>
        </p:nvSpPr>
        <p:spPr>
          <a:xfrm>
            <a:off x="6470650" y="4191000"/>
            <a:ext cx="1225550" cy="381000"/>
          </a:xfrm>
          <a:prstGeom prst="rect">
            <a:avLst/>
          </a:prstGeom>
          <a:solidFill>
            <a:srgbClr val="DDD9C9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Δ speed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1</a:t>
            </a:r>
          </a:p>
        </p:txBody>
      </p:sp>
      <p:sp>
        <p:nvSpPr>
          <p:cNvPr id="34" name="edge Δ accel."/>
          <p:cNvSpPr/>
          <p:nvPr/>
        </p:nvSpPr>
        <p:spPr>
          <a:xfrm>
            <a:off x="7696200" y="4191000"/>
            <a:ext cx="1225550" cy="381000"/>
          </a:xfrm>
          <a:prstGeom prst="rect">
            <a:avLst/>
          </a:prstGeom>
          <a:solidFill>
            <a:srgbClr val="EFEDE4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Δ accel.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1</a:t>
            </a:r>
          </a:p>
        </p:txBody>
      </p:sp>
      <p:sp>
        <p:nvSpPr>
          <p:cNvPr id="35" name="edge Δ dir."/>
          <p:cNvSpPr/>
          <p:nvPr/>
        </p:nvSpPr>
        <p:spPr>
          <a:xfrm>
            <a:off x="8921750" y="4191000"/>
            <a:ext cx="1225550" cy="381000"/>
          </a:xfrm>
          <a:prstGeom prst="rect">
            <a:avLst/>
          </a:prstGeom>
          <a:solidFill>
            <a:srgbClr val="DDD9C9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Δ dir.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1</a:t>
            </a:r>
          </a:p>
        </p:txBody>
      </p:sp>
      <p:sp>
        <p:nvSpPr>
          <p:cNvPr id="36" name="edge Δ orient."/>
          <p:cNvSpPr/>
          <p:nvPr/>
        </p:nvSpPr>
        <p:spPr>
          <a:xfrm>
            <a:off x="10147300" y="4191000"/>
            <a:ext cx="1225550" cy="381000"/>
          </a:xfrm>
          <a:prstGeom prst="rect">
            <a:avLst/>
          </a:prstGeom>
          <a:solidFill>
            <a:srgbClr val="EFEDE4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Δ orient.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1</a:t>
            </a:r>
          </a:p>
        </p:txBody>
      </p:sp>
      <p:sp>
        <p:nvSpPr>
          <p:cNvPr id="38" name="global context"/>
          <p:cNvSpPr/>
          <p:nvPr/>
        </p:nvSpPr>
        <p:spPr>
          <a:xfrm>
            <a:off x="2794000" y="6153150"/>
            <a:ext cx="6581987" cy="381000"/>
          </a:xfrm>
          <a:prstGeom prst="rect">
            <a:avLst/>
          </a:prstGeom>
          <a:solidFill>
            <a:srgbClr val="DDD9C9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play context: score, down, formation, route, …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46</a:t>
            </a:r>
          </a:p>
        </p:txBody>
      </p:sp>
      <p:sp>
        <p:nvSpPr>
          <p:cNvPr id="37" name="global ball"/>
          <p:cNvSpPr/>
          <p:nvPr/>
        </p:nvSpPr>
        <p:spPr>
          <a:xfrm>
            <a:off x="9375987" y="6153150"/>
            <a:ext cx="2003213" cy="381000"/>
          </a:xfrm>
          <a:prstGeom prst="rect">
            <a:avLst/>
          </a:prstGeom>
          <a:solidFill>
            <a:srgbClr val="EFEDE4"/>
          </a:solidFill>
          <a:ln w="12700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/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121417"/>
                </a:solidFill>
                <a:latin typeface="Cascadia Code SemiLight"/>
              </a:rPr>
              <a:t>ball trajectory</a:t>
            </a:r>
          </a:p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002060"/>
                </a:solidFill>
                <a:latin typeface="Cascadia Code SemiBold"/>
              </a:rPr>
              <a:t>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50354873-A4CE-4119-9733-70CA1F35D4B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noFill/>
          <a:effectLst>
            <a:softEdge rad="317500"/>
          </a:effectLst>
        </p:spPr>
      </p:pic>
      <p:sp>
        <p:nvSpPr>
          <p:cNvPr id="5" name="TextBox 4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121417"/>
                </a:solidFill>
                <a:latin typeface="Cascadia Code SemiBold"/>
              </a:rPr>
              <a:t>7.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562100"/>
            <a:ext cx="1905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>
                <a:solidFill>
                  <a:srgbClr val="002060"/>
                </a:solidFill>
                <a:latin typeface="Cascadia Code SemiBold"/>
              </a:rPr>
              <a:t>STRATIFIED SAMPLING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15240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Light"/>
              </a:rPr>
              <a:t>Plays are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binned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by rank (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frequency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), not raw value, and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sampled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as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evenly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as possible across bins, so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rare short and long plays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are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not drowned out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by the most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common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lengths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2800" y="25781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2000" y="2743200"/>
            <a:ext cx="1905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002060"/>
                </a:solidFill>
                <a:latin typeface="Cascadia Code SemiBold"/>
              </a:rPr>
              <a:t>SPLIT BY PLAY</a:t>
            </a:r>
            <a:r>
              <a:rPr lang="it-IT" sz="1200" b="1" spc="75" dirty="0">
                <a:solidFill>
                  <a:srgbClr val="002060"/>
                </a:solidFill>
                <a:latin typeface="Cascadia Code SemiBold"/>
              </a:rPr>
              <a:t> LENGTH</a:t>
            </a:r>
            <a:endParaRPr sz="1200" b="1" spc="75" dirty="0">
              <a:solidFill>
                <a:srgbClr val="002060"/>
              </a:solidFill>
              <a:latin typeface="Cascadia Code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94000" y="2705100"/>
            <a:ext cx="8585200" cy="622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Train, validation </a:t>
            </a:r>
            <a:r>
              <a:rPr sz="1400" b="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and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test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are stratified on the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same bins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and split strictly by play, verified with an explicit assertion that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no play appears in two sets</a:t>
            </a:r>
            <a:endParaRPr sz="1400" b="0" dirty="0">
              <a:solidFill>
                <a:srgbClr val="121417"/>
              </a:solidFill>
              <a:latin typeface="Cascadia Code SemiLight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812800" y="34544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000" y="3619500"/>
            <a:ext cx="1905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>
                <a:solidFill>
                  <a:srgbClr val="FF0000"/>
                </a:solidFill>
                <a:latin typeface="Cascadia Code SemiBold"/>
              </a:rPr>
              <a:t>BATCHES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4000" y="3581400"/>
            <a:ext cx="8585200" cy="622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 err="1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BatchProvider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turns the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padded tensors 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into </a:t>
            </a:r>
            <a:r>
              <a:rPr sz="1400" b="0" dirty="0" err="1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PyG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graph batches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, building the graphs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once per </a:t>
            </a:r>
            <a:r>
              <a:rPr sz="1400" b="0" dirty="0" err="1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global_mode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and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re-collating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them for </a:t>
            </a:r>
            <a:r>
              <a:rPr sz="1400" b="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different batch sizes</a:t>
            </a:r>
            <a:endParaRPr sz="1400" b="0" dirty="0">
              <a:solidFill>
                <a:srgbClr val="121417"/>
              </a:solidFill>
              <a:latin typeface="Cascadia Code SemiLight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16D5399D-4ECC-CF81-C1D3-935B9926EFEE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2FCCA728-13D9-92B2-E5A4-11F42552C42F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003268"/>
                </a:solidFill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E10B9E9-40FC-84B6-DF07-28BD66554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821D201-20A7-EAB6-0392-A7925931D3CE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65"/>
              </a:lnSpc>
            </a:pPr>
            <a:r>
              <a:rPr lang="en-US" sz="1200" kern="0" spc="75" dirty="0">
                <a:solidFill>
                  <a:srgbClr val="003268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-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Big Data Analytics and Text Mining</a:t>
            </a:r>
            <a:r>
              <a:rPr lang="en-US" sz="1200" b="1" kern="0" spc="75" dirty="0">
                <a:solidFill>
                  <a:srgbClr val="003268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2E6ED7-7CD3-3139-F350-F3DA0A8135FA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1200" kern="0" spc="75" dirty="0">
                <a:solidFill>
                  <a:srgbClr val="003268"/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Ponzuoli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Giovanni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	    - </a:t>
            </a:r>
            <a:endParaRPr lang="en-US" sz="1200" dirty="0">
              <a:solidFill>
                <a:srgbClr val="003268">
                  <a:alpha val="50000"/>
                </a:srgbClr>
              </a:solidFill>
              <a:latin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58E3C9A-1333-F11C-BCBD-1453D6B99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297" y="4457700"/>
            <a:ext cx="6795406" cy="209550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F6F5EF"/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A0E2FE86-697D-5D0E-6488-7408A47569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TextBox 4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8. Model</a:t>
            </a:r>
            <a:r>
              <a:rPr kumimoji="0" lang="it-IT" sz="38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’s</a:t>
            </a: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084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ATTENTION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36703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Every player in every frame is 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node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. 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graph attention layer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updates it by weighting its neighbors with 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learned attention score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that also reads 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edge features</a:t>
            </a: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Light"/>
              <a:ea typeface="+mn-ea"/>
              <a:cs typeface="+mn-cs"/>
            </a:endParaRP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812800" y="47244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2000" y="48895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SPATIO-TEMPORAL 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4000" y="48514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The layer runs in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two branches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,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spatial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(k-nearest players, same frame) 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temporal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(same player, next frame), fused by 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linear layer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into 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62-dim embedding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; the projected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global features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are then added to every node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812800" y="59055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000" y="60706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ONE-SHOT DECODING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4000" y="6032500"/>
            <a:ext cx="8585200" cy="622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Per player, 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last-frame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embedding plus its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last (x, y)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goes through an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MLP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that outputs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all future positions at once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, with no recurrence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CF94304B-F2B2-1CDB-FEBA-BAEF022EC9BA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1BDAEE50-4575-38B9-C720-BF95365C7837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8F87344-10B3-5B41-21EF-FF8209617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DCED571-FC29-FC5F-E6AB-78733FFC47F0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-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     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Big Data Analytics and Text Mining</a:t>
            </a:r>
            <a:r>
              <a:rPr kumimoji="0" lang="en-US" sz="1200" b="1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	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3D2580-B1E4-D7D4-B990-91288308DD2A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   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Ponzuoli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Giovanni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	    -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>
                  <a:alpha val="50000"/>
                </a:srgbClr>
              </a:solidFill>
              <a:effectLst/>
              <a:uLnTx/>
              <a:uFillTx/>
              <a:latin typeface="Cascadia Code ExtraLight" panose="020B0609020000020004" pitchFamily="49" charset="0"/>
              <a:ea typeface="+mn-ea"/>
              <a:cs typeface="Cascadia Code ExtraLight" panose="020B0609020000020004" pitchFamily="49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04800" y="1524000"/>
            <a:ext cx="1841500" cy="1358900"/>
          </a:xfrm>
          <a:prstGeom prst="rect">
            <a:avLst/>
          </a:prstGeom>
          <a:solidFill>
            <a:srgbClr val="F6F5EF"/>
          </a:solidFill>
          <a:ln w="15875">
            <a:solidFill>
              <a:srgbClr val="8A8672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PLAY GRAPH</a:t>
            </a:r>
            <a:endParaRPr kumimoji="0" lang="it-IT" sz="1300" b="1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Bold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{one graph per play}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60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15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ode</a:t>
            </a:r>
            <a:r>
              <a:rPr lang="it-IT" sz="1150" dirty="0">
                <a:solidFill>
                  <a:srgbClr val="121417"/>
                </a:solidFill>
                <a:latin typeface="Cascadia Code SemiLight"/>
              </a:rPr>
              <a:t> features</a:t>
            </a:r>
            <a:endParaRPr kumimoji="0" lang="it-IT" sz="115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36-d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im</a:t>
            </a:r>
            <a:endParaRPr kumimoji="0" sz="115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edge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features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7-d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24100" y="1524000"/>
            <a:ext cx="1841500" cy="641350"/>
          </a:xfrm>
          <a:prstGeom prst="rect">
            <a:avLst/>
          </a:prstGeom>
          <a:solidFill>
            <a:srgbClr val="F6F5EF"/>
          </a:solidFill>
          <a:ln w="25400">
            <a:solidFill>
              <a:srgbClr val="002060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SPATIAL GAT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150" dirty="0">
                <a:solidFill>
                  <a:srgbClr val="121417"/>
                </a:solidFill>
                <a:latin typeface="Cascadia Code SemiLight"/>
              </a:rPr>
              <a:t>knn 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same frame</a:t>
            </a:r>
            <a:endParaRPr kumimoji="0" lang="it-IT" sz="115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20-d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im</a:t>
            </a:r>
            <a:endParaRPr kumimoji="0" sz="115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324100" y="2241550"/>
            <a:ext cx="1841500" cy="641350"/>
          </a:xfrm>
          <a:prstGeom prst="rect">
            <a:avLst/>
          </a:prstGeom>
          <a:solidFill>
            <a:srgbClr val="F6F5EF"/>
          </a:solidFill>
          <a:ln w="25400">
            <a:solidFill>
              <a:srgbClr val="FF0000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TEMPORAL GAT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same player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f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→ 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f+1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42-d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im</a:t>
            </a:r>
            <a:endParaRPr kumimoji="0" sz="115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43400" y="1524000"/>
            <a:ext cx="1841500" cy="1358900"/>
          </a:xfrm>
          <a:prstGeom prst="rect">
            <a:avLst/>
          </a:prstGeom>
          <a:solidFill>
            <a:srgbClr val="F6F5EF"/>
          </a:solidFill>
          <a:ln w="15875">
            <a:solidFill>
              <a:srgbClr val="8A8672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FUSE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Linear 62 → 62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50" b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[</a:t>
            </a:r>
            <a:r>
              <a:rPr kumimoji="0" sz="1150" b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+ global features</a:t>
            </a:r>
            <a:r>
              <a:rPr kumimoji="0" lang="it-IT" sz="1150" b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]</a:t>
            </a:r>
            <a:endParaRPr kumimoji="0" sz="1150" b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62-d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im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per node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62700" y="1524000"/>
            <a:ext cx="1587500" cy="1358900"/>
          </a:xfrm>
          <a:prstGeom prst="rect">
            <a:avLst/>
          </a:prstGeom>
          <a:solidFill>
            <a:srgbClr val="F6F5EF"/>
          </a:solidFill>
          <a:ln w="15875">
            <a:solidFill>
              <a:srgbClr val="8A8672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LAST FRAME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concat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kumimoji="0" sz="115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last </a:t>
            </a:r>
            <a:endParaRPr kumimoji="0" lang="it-IT" sz="115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15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frame </a:t>
            </a:r>
            <a:r>
              <a:rPr kumimoji="0" sz="115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(x, y)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64-d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im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per player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pad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to 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17 players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0" y="1524000"/>
            <a:ext cx="2032000" cy="1358900"/>
          </a:xfrm>
          <a:prstGeom prst="rect">
            <a:avLst/>
          </a:prstGeom>
          <a:solidFill>
            <a:srgbClr val="F6F5EF"/>
          </a:solidFill>
          <a:ln w="15875">
            <a:solidFill>
              <a:srgbClr val="8A8672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MLP REGRESSOR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64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→ </a:t>
            </a: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256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→ </a:t>
            </a: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188</a:t>
            </a:r>
            <a:r>
              <a:rPr lang="it-IT" sz="1150" b="1" dirty="0">
                <a:solidFill>
                  <a:srgbClr val="121417"/>
                </a:solidFill>
                <a:latin typeface="Cascadia Code SemiLight"/>
              </a:rPr>
              <a:t> </a:t>
            </a:r>
            <a:r>
              <a:rPr kumimoji="0" sz="1150" b="1" i="0" u="none" strike="noStrike" kern="1200" cap="none" spc="0" normalizeH="0" baseline="0" noProof="0" dirty="0" err="1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ReLU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94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frames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kumimoji="0" sz="115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(x, 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7800" y="1524000"/>
            <a:ext cx="1549400" cy="1358900"/>
          </a:xfrm>
          <a:prstGeom prst="rect">
            <a:avLst/>
          </a:prstGeom>
          <a:solidFill>
            <a:srgbClr val="F6F5EF"/>
          </a:solidFill>
          <a:ln w="25400">
            <a:solidFill>
              <a:srgbClr val="FF0000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OUTPUT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(x, y)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of 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every player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up to 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94 frames</a:t>
            </a:r>
          </a:p>
        </p:txBody>
      </p:sp>
      <p:cxnSp>
        <p:nvCxnSpPr>
          <p:cNvPr id="35" name="Connector 34"/>
          <p:cNvCxnSpPr>
            <a:cxnSpLocks/>
            <a:endCxn id="29" idx="1"/>
          </p:cNvCxnSpPr>
          <p:nvPr/>
        </p:nvCxnSpPr>
        <p:spPr>
          <a:xfrm flipV="1">
            <a:off x="2146300" y="1844675"/>
            <a:ext cx="177800" cy="168275"/>
          </a:xfrm>
          <a:prstGeom prst="line">
            <a:avLst/>
          </a:prstGeom>
          <a:ln w="22225">
            <a:solidFill>
              <a:srgbClr val="002060"/>
            </a:solidFill>
            <a:tailEnd type="triangle" w="med" len="med"/>
          </a:ln>
        </p:spPr>
      </p:cxnSp>
      <p:cxnSp>
        <p:nvCxnSpPr>
          <p:cNvPr id="36" name="Connector 35"/>
          <p:cNvCxnSpPr>
            <a:cxnSpLocks/>
            <a:endCxn id="30" idx="1"/>
          </p:cNvCxnSpPr>
          <p:nvPr/>
        </p:nvCxnSpPr>
        <p:spPr>
          <a:xfrm>
            <a:off x="2146300" y="2393950"/>
            <a:ext cx="177800" cy="168275"/>
          </a:xfrm>
          <a:prstGeom prst="line">
            <a:avLst/>
          </a:prstGeom>
          <a:ln w="22225">
            <a:solidFill>
              <a:srgbClr val="FF0000"/>
            </a:solidFill>
            <a:tailEnd type="triangle" w="med" len="med"/>
          </a:ln>
        </p:spPr>
      </p:cxnSp>
      <p:cxnSp>
        <p:nvCxnSpPr>
          <p:cNvPr id="37" name="Connector 36"/>
          <p:cNvCxnSpPr/>
          <p:nvPr/>
        </p:nvCxnSpPr>
        <p:spPr>
          <a:xfrm>
            <a:off x="4165600" y="1844675"/>
            <a:ext cx="177800" cy="168275"/>
          </a:xfrm>
          <a:prstGeom prst="line">
            <a:avLst/>
          </a:prstGeom>
          <a:ln w="22225">
            <a:solidFill>
              <a:srgbClr val="002060"/>
            </a:solidFill>
            <a:tailEnd type="triangle" w="med" len="med"/>
          </a:ln>
        </p:spPr>
      </p:cxnSp>
      <p:cxnSp>
        <p:nvCxnSpPr>
          <p:cNvPr id="38" name="Connector 37"/>
          <p:cNvCxnSpPr/>
          <p:nvPr/>
        </p:nvCxnSpPr>
        <p:spPr>
          <a:xfrm flipV="1">
            <a:off x="4165600" y="2393950"/>
            <a:ext cx="177800" cy="168275"/>
          </a:xfrm>
          <a:prstGeom prst="line">
            <a:avLst/>
          </a:prstGeom>
          <a:ln w="22225">
            <a:solidFill>
              <a:srgbClr val="FF0000"/>
            </a:solidFill>
            <a:tailEnd type="triangle" w="med" len="med"/>
          </a:ln>
        </p:spPr>
      </p:cxnSp>
      <p:cxnSp>
        <p:nvCxnSpPr>
          <p:cNvPr id="39" name="Connector 38"/>
          <p:cNvCxnSpPr>
            <a:cxnSpLocks/>
            <a:endCxn id="32" idx="1"/>
          </p:cNvCxnSpPr>
          <p:nvPr/>
        </p:nvCxnSpPr>
        <p:spPr>
          <a:xfrm>
            <a:off x="6184900" y="2203450"/>
            <a:ext cx="177800" cy="0"/>
          </a:xfrm>
          <a:prstGeom prst="line">
            <a:avLst/>
          </a:prstGeom>
          <a:ln w="22225">
            <a:solidFill>
              <a:srgbClr val="121417"/>
            </a:solidFill>
            <a:tailEnd type="triangle" w="med" len="med"/>
          </a:ln>
        </p:spPr>
      </p:cxnSp>
      <p:cxnSp>
        <p:nvCxnSpPr>
          <p:cNvPr id="40" name="Connector 39"/>
          <p:cNvCxnSpPr>
            <a:cxnSpLocks/>
            <a:stCxn id="32" idx="3"/>
          </p:cNvCxnSpPr>
          <p:nvPr/>
        </p:nvCxnSpPr>
        <p:spPr>
          <a:xfrm>
            <a:off x="7950200" y="2203450"/>
            <a:ext cx="177800" cy="0"/>
          </a:xfrm>
          <a:prstGeom prst="line">
            <a:avLst/>
          </a:prstGeom>
          <a:ln w="22225">
            <a:solidFill>
              <a:srgbClr val="121417"/>
            </a:solidFill>
            <a:tailEnd type="triangle" w="med" len="med"/>
          </a:ln>
        </p:spPr>
      </p:cxnSp>
      <p:cxnSp>
        <p:nvCxnSpPr>
          <p:cNvPr id="41" name="Connector 40"/>
          <p:cNvCxnSpPr>
            <a:cxnSpLocks/>
          </p:cNvCxnSpPr>
          <p:nvPr/>
        </p:nvCxnSpPr>
        <p:spPr>
          <a:xfrm>
            <a:off x="10160000" y="2203450"/>
            <a:ext cx="177800" cy="0"/>
          </a:xfrm>
          <a:prstGeom prst="line">
            <a:avLst/>
          </a:prstGeom>
          <a:ln w="22225">
            <a:solidFill>
              <a:srgbClr val="121417"/>
            </a:solidFill>
            <a:tailEnd type="triangle" w="med" len="med"/>
          </a:ln>
        </p:spPr>
      </p:cxnSp>
      <p:sp>
        <p:nvSpPr>
          <p:cNvPr id="42" name="Rectangle 41"/>
          <p:cNvSpPr/>
          <p:nvPr/>
        </p:nvSpPr>
        <p:spPr>
          <a:xfrm>
            <a:off x="4343400" y="3060700"/>
            <a:ext cx="1841500" cy="381000"/>
          </a:xfrm>
          <a:prstGeom prst="rect">
            <a:avLst/>
          </a:prstGeom>
          <a:solidFill>
            <a:srgbClr val="F6F5EF"/>
          </a:solidFill>
          <a:ln w="15875">
            <a:solidFill>
              <a:srgbClr val="8A8672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GLOBAL FEATURES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Linear → </a:t>
            </a: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62-d</a:t>
            </a:r>
            <a:r>
              <a:rPr kumimoji="0" lang="it-IT" sz="11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im</a:t>
            </a:r>
            <a:endParaRPr kumimoji="0" sz="115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cxnSp>
        <p:nvCxnSpPr>
          <p:cNvPr id="43" name="Connector 42"/>
          <p:cNvCxnSpPr/>
          <p:nvPr/>
        </p:nvCxnSpPr>
        <p:spPr>
          <a:xfrm flipV="1">
            <a:off x="5264150" y="2882900"/>
            <a:ext cx="0" cy="177800"/>
          </a:xfrm>
          <a:prstGeom prst="line">
            <a:avLst/>
          </a:prstGeom>
          <a:ln w="22225">
            <a:solidFill>
              <a:srgbClr val="121417"/>
            </a:solidFill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8362A5E5-40BA-E793-E0AE-DDACB3046E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2DF6CC-CF4A-1353-C68C-9F7C65871AC6}"/>
              </a:ext>
            </a:extLst>
          </p:cNvPr>
          <p:cNvSpPr/>
          <p:nvPr/>
        </p:nvSpPr>
        <p:spPr>
          <a:xfrm>
            <a:off x="1153763" y="3792795"/>
            <a:ext cx="3568845" cy="1282365"/>
          </a:xfrm>
          <a:prstGeom prst="rect">
            <a:avLst/>
          </a:prstGeom>
          <a:solidFill>
            <a:srgbClr val="F6F5EF"/>
          </a:solidFill>
          <a:ln>
            <a:solidFill>
              <a:srgbClr val="8A8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1BC010-FDA2-1453-BF24-C83490927C0E}"/>
              </a:ext>
            </a:extLst>
          </p:cNvPr>
          <p:cNvSpPr/>
          <p:nvPr/>
        </p:nvSpPr>
        <p:spPr>
          <a:xfrm>
            <a:off x="1152582" y="1752342"/>
            <a:ext cx="3568845" cy="1320987"/>
          </a:xfrm>
          <a:prstGeom prst="rect">
            <a:avLst/>
          </a:prstGeom>
          <a:solidFill>
            <a:srgbClr val="F6F5EF"/>
          </a:solidFill>
          <a:ln>
            <a:solidFill>
              <a:srgbClr val="8A8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 flipV="1">
            <a:off x="1505933" y="2012459"/>
            <a:ext cx="2798852" cy="5652"/>
          </a:xfrm>
          <a:prstGeom prst="line">
            <a:avLst/>
          </a:prstGeom>
          <a:ln w="12700">
            <a:solidFill>
              <a:srgbClr val="D8D4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</p:cNvCxnSpPr>
          <p:nvPr/>
        </p:nvCxnSpPr>
        <p:spPr>
          <a:xfrm>
            <a:off x="1511584" y="2786205"/>
            <a:ext cx="2793200" cy="6161"/>
          </a:xfrm>
          <a:prstGeom prst="line">
            <a:avLst/>
          </a:prstGeom>
          <a:ln w="12700">
            <a:solidFill>
              <a:srgbClr val="D8D4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7">
            <a:extLst>
              <a:ext uri="{FF2B5EF4-FFF2-40B4-BE49-F238E27FC236}">
                <a16:creationId xmlns:a16="http://schemas.microsoft.com/office/drawing/2014/main" id="{6A05DC74-C28A-79B3-6ABB-3FBB263723F7}"/>
              </a:ext>
            </a:extLst>
          </p:cNvPr>
          <p:cNvCxnSpPr>
            <a:cxnSpLocks/>
          </p:cNvCxnSpPr>
          <p:nvPr/>
        </p:nvCxnSpPr>
        <p:spPr>
          <a:xfrm>
            <a:off x="1545855" y="4849099"/>
            <a:ext cx="2793200" cy="6161"/>
          </a:xfrm>
          <a:prstGeom prst="line">
            <a:avLst/>
          </a:prstGeom>
          <a:ln w="12700">
            <a:solidFill>
              <a:srgbClr val="D8D4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8">
            <a:extLst>
              <a:ext uri="{FF2B5EF4-FFF2-40B4-BE49-F238E27FC236}">
                <a16:creationId xmlns:a16="http://schemas.microsoft.com/office/drawing/2014/main" id="{16CE9017-46FC-688D-99CF-E57A8DE40770}"/>
              </a:ext>
            </a:extLst>
          </p:cNvPr>
          <p:cNvCxnSpPr>
            <a:cxnSpLocks/>
          </p:cNvCxnSpPr>
          <p:nvPr/>
        </p:nvCxnSpPr>
        <p:spPr>
          <a:xfrm flipV="1">
            <a:off x="1540203" y="4075354"/>
            <a:ext cx="2798852" cy="5652"/>
          </a:xfrm>
          <a:prstGeom prst="line">
            <a:avLst/>
          </a:prstGeom>
          <a:ln w="12700">
            <a:solidFill>
              <a:srgbClr val="D8D4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  <a:stCxn id="29" idx="4"/>
            <a:endCxn id="140" idx="0"/>
          </p:cNvCxnSpPr>
          <p:nvPr/>
        </p:nvCxnSpPr>
        <p:spPr>
          <a:xfrm>
            <a:off x="3401957" y="2619995"/>
            <a:ext cx="34270" cy="1687070"/>
          </a:xfrm>
          <a:prstGeom prst="line">
            <a:avLst/>
          </a:prstGeom>
          <a:ln w="27940">
            <a:solidFill>
              <a:srgbClr val="FF0000">
                <a:alpha val="85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20">
            <a:extLst>
              <a:ext uri="{FF2B5EF4-FFF2-40B4-BE49-F238E27FC236}">
                <a16:creationId xmlns:a16="http://schemas.microsoft.com/office/drawing/2014/main" id="{447553DA-02CE-B998-583F-ED2DF93D821D}"/>
              </a:ext>
            </a:extLst>
          </p:cNvPr>
          <p:cNvCxnSpPr>
            <a:cxnSpLocks/>
            <a:stCxn id="26" idx="4"/>
            <a:endCxn id="139" idx="0"/>
          </p:cNvCxnSpPr>
          <p:nvPr/>
        </p:nvCxnSpPr>
        <p:spPr>
          <a:xfrm>
            <a:off x="3533354" y="2006807"/>
            <a:ext cx="193603" cy="1965195"/>
          </a:xfrm>
          <a:prstGeom prst="line">
            <a:avLst/>
          </a:prstGeom>
          <a:ln w="27940">
            <a:solidFill>
              <a:srgbClr val="FF0000">
                <a:alpha val="30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20">
            <a:extLst>
              <a:ext uri="{FF2B5EF4-FFF2-40B4-BE49-F238E27FC236}">
                <a16:creationId xmlns:a16="http://schemas.microsoft.com/office/drawing/2014/main" id="{5B39CAA6-0C8A-48EE-F88C-90A0F1D3AF18}"/>
              </a:ext>
            </a:extLst>
          </p:cNvPr>
          <p:cNvCxnSpPr>
            <a:cxnSpLocks/>
            <a:stCxn id="25" idx="4"/>
            <a:endCxn id="138" idx="0"/>
          </p:cNvCxnSpPr>
          <p:nvPr/>
        </p:nvCxnSpPr>
        <p:spPr>
          <a:xfrm>
            <a:off x="3081234" y="2684988"/>
            <a:ext cx="430034" cy="2134680"/>
          </a:xfrm>
          <a:prstGeom prst="line">
            <a:avLst/>
          </a:prstGeom>
          <a:ln w="27940">
            <a:solidFill>
              <a:srgbClr val="FF0000">
                <a:alpha val="30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20">
            <a:extLst>
              <a:ext uri="{FF2B5EF4-FFF2-40B4-BE49-F238E27FC236}">
                <a16:creationId xmlns:a16="http://schemas.microsoft.com/office/drawing/2014/main" id="{EC0E920E-5275-4F38-3205-BA93975CDE09}"/>
              </a:ext>
            </a:extLst>
          </p:cNvPr>
          <p:cNvCxnSpPr>
            <a:cxnSpLocks/>
            <a:stCxn id="23" idx="4"/>
            <a:endCxn id="136" idx="0"/>
          </p:cNvCxnSpPr>
          <p:nvPr/>
        </p:nvCxnSpPr>
        <p:spPr>
          <a:xfrm>
            <a:off x="3787671" y="2148095"/>
            <a:ext cx="74921" cy="2203372"/>
          </a:xfrm>
          <a:prstGeom prst="line">
            <a:avLst/>
          </a:prstGeom>
          <a:ln w="27940">
            <a:solidFill>
              <a:srgbClr val="FF0000">
                <a:alpha val="30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8. </a:t>
            </a:r>
            <a:r>
              <a:rPr kumimoji="0" lang="it-IT" sz="38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Encoder</a:t>
            </a:r>
            <a:r>
              <a:rPr lang="it-IT" sz="3800" b="1" dirty="0">
                <a:solidFill>
                  <a:srgbClr val="121417"/>
                </a:solidFill>
                <a:latin typeface="Cascadia Code SemiBold"/>
              </a:rPr>
              <a:t>’s</a:t>
            </a:r>
            <a:r>
              <a:rPr kumimoji="0" lang="it-IT" sz="38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 Architecture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Bold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45855" y="1511513"/>
            <a:ext cx="1702460" cy="198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FRAME</a:t>
            </a:r>
            <a:r>
              <a:rPr kumimoji="0" lang="it-IT" sz="1150" b="1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 f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rgbClr val="8A8672"/>
              </a:solidFill>
              <a:effectLst/>
              <a:uLnTx/>
              <a:uFillTx/>
              <a:latin typeface="Cascadia Code SemiBold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182645" y="2001156"/>
            <a:ext cx="101727" cy="101727"/>
          </a:xfrm>
          <a:prstGeom prst="ellipse">
            <a:avLst/>
          </a:prstGeom>
          <a:solidFill>
            <a:srgbClr val="CFCBBE"/>
          </a:solidFill>
          <a:ln>
            <a:solidFill>
              <a:srgbClr val="CF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368835" y="2690018"/>
            <a:ext cx="101727" cy="101727"/>
          </a:xfrm>
          <a:prstGeom prst="ellipse">
            <a:avLst/>
          </a:prstGeom>
          <a:solidFill>
            <a:srgbClr val="CFCBBE"/>
          </a:solidFill>
          <a:ln>
            <a:solidFill>
              <a:srgbClr val="CF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069615" y="2538048"/>
            <a:ext cx="101727" cy="101727"/>
          </a:xfrm>
          <a:prstGeom prst="ellipse">
            <a:avLst/>
          </a:prstGeom>
          <a:solidFill>
            <a:srgbClr val="CFCBBE"/>
          </a:solidFill>
          <a:ln>
            <a:solidFill>
              <a:srgbClr val="CF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2575425" y="2441996"/>
            <a:ext cx="101727" cy="101727"/>
          </a:xfrm>
          <a:prstGeom prst="ellipse">
            <a:avLst/>
          </a:prstGeom>
          <a:solidFill>
            <a:srgbClr val="CFCBBE"/>
          </a:solidFill>
          <a:ln>
            <a:solidFill>
              <a:srgbClr val="CF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 flipH="1" flipV="1">
            <a:off x="2939946" y="2136792"/>
            <a:ext cx="480378" cy="254317"/>
          </a:xfrm>
          <a:prstGeom prst="line">
            <a:avLst/>
          </a:prstGeom>
          <a:ln w="27940">
            <a:solidFill>
              <a:srgbClr val="002060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</p:cNvCxnSpPr>
          <p:nvPr/>
        </p:nvCxnSpPr>
        <p:spPr>
          <a:xfrm flipV="1">
            <a:off x="3420324" y="2080277"/>
            <a:ext cx="367348" cy="310832"/>
          </a:xfrm>
          <a:prstGeom prst="line">
            <a:avLst/>
          </a:prstGeom>
          <a:ln w="27940">
            <a:solidFill>
              <a:srgbClr val="002060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</p:cNvCxnSpPr>
          <p:nvPr/>
        </p:nvCxnSpPr>
        <p:spPr>
          <a:xfrm>
            <a:off x="3420324" y="2391110"/>
            <a:ext cx="493320" cy="299530"/>
          </a:xfrm>
          <a:prstGeom prst="line">
            <a:avLst/>
          </a:prstGeom>
          <a:ln w="27940">
            <a:solidFill>
              <a:srgbClr val="002060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</p:cNvCxnSpPr>
          <p:nvPr/>
        </p:nvCxnSpPr>
        <p:spPr>
          <a:xfrm flipH="1">
            <a:off x="3081234" y="2391110"/>
            <a:ext cx="339090" cy="226060"/>
          </a:xfrm>
          <a:prstGeom prst="line">
            <a:avLst/>
          </a:prstGeom>
          <a:ln w="27940">
            <a:solidFill>
              <a:srgbClr val="002060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</p:cNvCxnSpPr>
          <p:nvPr/>
        </p:nvCxnSpPr>
        <p:spPr>
          <a:xfrm flipV="1">
            <a:off x="3420324" y="1938989"/>
            <a:ext cx="113030" cy="452120"/>
          </a:xfrm>
          <a:prstGeom prst="line">
            <a:avLst/>
          </a:prstGeom>
          <a:ln w="27940">
            <a:solidFill>
              <a:srgbClr val="002060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872128" y="2068974"/>
            <a:ext cx="135636" cy="135636"/>
          </a:xfrm>
          <a:prstGeom prst="ellipse">
            <a:avLst/>
          </a:prstGeom>
          <a:solidFill>
            <a:srgbClr val="002060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3719853" y="2012459"/>
            <a:ext cx="135636" cy="135636"/>
          </a:xfrm>
          <a:prstGeom prst="ellipse">
            <a:avLst/>
          </a:prstGeom>
          <a:solidFill>
            <a:srgbClr val="FF0000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904080" y="2676799"/>
            <a:ext cx="135636" cy="135636"/>
          </a:xfrm>
          <a:prstGeom prst="ellipse">
            <a:avLst/>
          </a:prstGeom>
          <a:solidFill>
            <a:srgbClr val="002060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3013416" y="2549352"/>
            <a:ext cx="135636" cy="135636"/>
          </a:xfrm>
          <a:prstGeom prst="ellipse">
            <a:avLst/>
          </a:prstGeom>
          <a:solidFill>
            <a:srgbClr val="FF0000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3465536" y="1871172"/>
            <a:ext cx="135636" cy="135636"/>
          </a:xfrm>
          <a:prstGeom prst="ellipse">
            <a:avLst/>
          </a:prstGeom>
          <a:solidFill>
            <a:srgbClr val="FF0000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3214044" y="2244170"/>
            <a:ext cx="375825" cy="375825"/>
          </a:xfrm>
          <a:prstGeom prst="ellipse">
            <a:avLst/>
          </a:prstGeom>
          <a:solidFill>
            <a:srgbClr val="003268"/>
          </a:solidFill>
          <a:ln w="3302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i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scadia Code Light" panose="020B0609020000020004" pitchFamily="49" charset="0"/>
              <a:ea typeface="+mn-ea"/>
              <a:cs typeface="Cascadia Code Light" panose="020B06090200000200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700395" y="1669542"/>
            <a:ext cx="5221986" cy="214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ONE GAT LAYER — UPDATING NODE i's EMBEDDING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87365" y="1889950"/>
            <a:ext cx="5448046" cy="146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same mechanism for both edge types below — separate weights, separate neighbor set, per branch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700395" y="2206434"/>
                <a:ext cx="2401888" cy="361696"/>
              </a:xfrm>
              <a:prstGeom prst="rect">
                <a:avLst/>
              </a:prstGeom>
              <a:solidFill>
                <a:srgbClr val="F6F5EF"/>
              </a:solidFill>
              <a:ln w="16510">
                <a:solidFill>
                  <a:srgbClr val="8A86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63500" tIns="25400" rIns="63500" bIns="254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sz="1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kumimoji="0" lang="en-US" sz="1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0" lang="en-US" sz="1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𝟑𝟔</m:t>
                          </m:r>
                        </m:sup>
                      </m:sSup>
                    </m:oMath>
                  </m:oMathPara>
                </a14:m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5F3EC"/>
                  </a:solidFill>
                  <a:effectLst/>
                  <a:uLnTx/>
                  <a:uFillTx/>
                  <a:latin typeface="Arial"/>
                  <a:ea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(</a:t>
                </a: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node</a:t>
                </a: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features)</a:t>
                </a: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395" y="2206434"/>
                <a:ext cx="2401888" cy="36169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  <a:ln w="16510">
                <a:solidFill>
                  <a:srgbClr val="8A8672"/>
                </a:solidFill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8520494" y="2206434"/>
                <a:ext cx="2401888" cy="361696"/>
              </a:xfrm>
              <a:prstGeom prst="rect">
                <a:avLst/>
              </a:prstGeom>
              <a:solidFill>
                <a:srgbClr val="F6F5EF"/>
              </a:solidFill>
              <a:ln w="16510">
                <a:solidFill>
                  <a:srgbClr val="8A86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63500" tIns="25400" rIns="63500" bIns="254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kumimoji="0" lang="en-US" sz="1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0" lang="en-US" sz="1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𝟕</m:t>
                          </m:r>
                        </m:sup>
                      </m:sSup>
                    </m:oMath>
                  </m:oMathPara>
                </a14:m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5F3EC"/>
                  </a:solidFill>
                  <a:effectLst/>
                  <a:uLnTx/>
                  <a:uFillTx/>
                  <a:latin typeface="Arial"/>
                  <a:ea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(</a:t>
                </a: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edge</a:t>
                </a: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features)</a:t>
                </a: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494" y="2206434"/>
                <a:ext cx="2401888" cy="361696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  <a:ln w="16510">
                <a:solidFill>
                  <a:srgbClr val="8A8672"/>
                </a:solidFill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ctor 45"/>
          <p:cNvCxnSpPr/>
          <p:nvPr/>
        </p:nvCxnSpPr>
        <p:spPr>
          <a:xfrm>
            <a:off x="6901339" y="2585085"/>
            <a:ext cx="0" cy="158242"/>
          </a:xfrm>
          <a:prstGeom prst="line">
            <a:avLst/>
          </a:prstGeom>
          <a:ln w="22860">
            <a:solidFill>
              <a:srgbClr val="00206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721437" y="2585085"/>
            <a:ext cx="0" cy="158242"/>
          </a:xfrm>
          <a:prstGeom prst="line">
            <a:avLst/>
          </a:prstGeom>
          <a:ln w="22860">
            <a:solidFill>
              <a:srgbClr val="00206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980460" y="2596388"/>
            <a:ext cx="1265936" cy="135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node_proj</a:t>
            </a:r>
            <a:r>
              <a:rPr kumimoji="0" lang="it-IT" sz="800" b="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kumimoji="0" sz="800" b="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(Linear)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76380" y="2596388"/>
            <a:ext cx="1265936" cy="135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edge_proj</a:t>
            </a:r>
            <a:r>
              <a:rPr kumimoji="0" lang="it-IT" sz="800" b="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kumimoji="0" sz="800" b="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(Linear)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5700395" y="2760282"/>
                <a:ext cx="2401888" cy="282575"/>
              </a:xfrm>
              <a:prstGeom prst="rect">
                <a:avLst/>
              </a:prstGeom>
              <a:solidFill>
                <a:srgbClr val="F6F5EF"/>
              </a:solidFill>
              <a:ln w="16510">
                <a:solidFill>
                  <a:srgbClr val="8A86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63500" tIns="25400" rIns="63500" bIns="254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sz="1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kumimoji="0" lang="en-US" sz="1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𝒅</m:t>
                          </m:r>
                        </m:sup>
                      </m:sSup>
                    </m:oMath>
                  </m:oMathPara>
                </a14:m>
                <a:endParaRPr kumimoji="0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5F3EC"/>
                  </a:solidFill>
                  <a:effectLst/>
                  <a:uLnTx/>
                  <a:uFillTx/>
                  <a:latin typeface="Arial"/>
                  <a:ea typeface="+mn-ea"/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395" y="2760282"/>
                <a:ext cx="2401888" cy="2825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6510">
                <a:solidFill>
                  <a:srgbClr val="8A8672"/>
                </a:solidFill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8520494" y="2760282"/>
                <a:ext cx="2401888" cy="282575"/>
              </a:xfrm>
              <a:prstGeom prst="rect">
                <a:avLst/>
              </a:prstGeom>
              <a:solidFill>
                <a:srgbClr val="F6F5EF"/>
              </a:solidFill>
              <a:ln w="16510">
                <a:solidFill>
                  <a:srgbClr val="8A86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63500" tIns="25400" rIns="63500" bIns="254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𝒆</m:t>
                              </m:r>
                            </m:e>
                          </m:acc>
                        </m:e>
                        <m: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kumimoji="0" lang="en-US" sz="1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𝒅</m:t>
                          </m:r>
                        </m:sup>
                      </m:sSup>
                    </m:oMath>
                  </m:oMathPara>
                </a14:m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5F3EC"/>
                  </a:solidFill>
                  <a:effectLst/>
                  <a:uLnTx/>
                  <a:uFillTx/>
                  <a:latin typeface="Arial"/>
                  <a:ea typeface="+mn-ea"/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494" y="2760282"/>
                <a:ext cx="2401888" cy="2825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6510">
                <a:solidFill>
                  <a:srgbClr val="8A8672"/>
                </a:solidFill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ctor 51"/>
          <p:cNvCxnSpPr>
            <a:cxnSpLocks/>
            <a:stCxn id="50" idx="2"/>
          </p:cNvCxnSpPr>
          <p:nvPr/>
        </p:nvCxnSpPr>
        <p:spPr>
          <a:xfrm>
            <a:off x="6901339" y="3059811"/>
            <a:ext cx="1263110" cy="180848"/>
          </a:xfrm>
          <a:prstGeom prst="line">
            <a:avLst/>
          </a:prstGeom>
          <a:ln w="20320">
            <a:solidFill>
              <a:srgbClr val="1214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cxnSpLocks/>
            <a:endCxn id="54" idx="0"/>
          </p:cNvCxnSpPr>
          <p:nvPr/>
        </p:nvCxnSpPr>
        <p:spPr>
          <a:xfrm flipH="1">
            <a:off x="8458327" y="3059811"/>
            <a:ext cx="1263110" cy="180848"/>
          </a:xfrm>
          <a:prstGeom prst="line">
            <a:avLst/>
          </a:prstGeom>
          <a:ln w="20320">
            <a:solidFill>
              <a:srgbClr val="1214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5700395" y="3257614"/>
                <a:ext cx="5221986" cy="361696"/>
              </a:xfrm>
              <a:prstGeom prst="rect">
                <a:avLst/>
              </a:prstGeom>
              <a:solidFill>
                <a:srgbClr val="F6F5EF"/>
              </a:solidFill>
              <a:ln w="16510">
                <a:solidFill>
                  <a:srgbClr val="8A86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63500" tIns="25400" rIns="63500" bIns="254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kumimoji="0" lang="en-US" sz="1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=</m:t>
                      </m:r>
                      <m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𝐋𝐞𝐚𝐤𝐲𝐑𝐞𝐋𝐔</m:t>
                      </m:r>
                      <m:d>
                        <m:d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𝒂</m:t>
                          </m:r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12141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12141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kumimoji="0" lang="en-US" sz="1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12141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‖</m:t>
                              </m:r>
                              <m:sSub>
                                <m:sSubPr>
                                  <m:ctrlPr>
                                    <a:rPr kumimoji="0" lang="en-US" sz="1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12141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12141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kumimoji="0" lang="en-US" sz="1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12141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‖</m:t>
                              </m:r>
                              <m:sSub>
                                <m:sSubPr>
                                  <m:ctrlPr>
                                    <a:rPr kumimoji="0" lang="en-US" sz="1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12141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kumimoji="0" lang="en-US" sz="10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srgbClr val="12141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sz="10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srgbClr val="12141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en-US" sz="1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12141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5F3EC"/>
                  </a:solidFill>
                  <a:effectLst/>
                  <a:uLnTx/>
                  <a:uFillTx/>
                  <a:latin typeface="Arial"/>
                  <a:ea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5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att</a:t>
                </a:r>
                <a:r>
                  <a:rPr kumimoji="0" lang="it-IT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entio</a:t>
                </a: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n</a:t>
                </a: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: Linear</a:t>
                </a:r>
                <a:r>
                  <a:rPr kumimoji="0" lang="it-IT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</a:t>
                </a: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(3d</a:t>
                </a:r>
                <a:r>
                  <a:rPr kumimoji="0" lang="it-IT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</a:t>
                </a: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→</a:t>
                </a:r>
                <a:r>
                  <a:rPr kumimoji="0" lang="it-IT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</a:t>
                </a: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1), scalar score per edge</a:t>
                </a: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395" y="3257614"/>
                <a:ext cx="5221986" cy="361696"/>
              </a:xfrm>
              <a:prstGeom prst="rect">
                <a:avLst/>
              </a:prstGeom>
              <a:blipFill>
                <a:blip r:embed="rId7"/>
                <a:stretch>
                  <a:fillRect b="-15942"/>
                </a:stretch>
              </a:blipFill>
              <a:ln w="16510">
                <a:solidFill>
                  <a:srgbClr val="8A8672"/>
                </a:solidFill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nector 54"/>
          <p:cNvCxnSpPr/>
          <p:nvPr/>
        </p:nvCxnSpPr>
        <p:spPr>
          <a:xfrm>
            <a:off x="8311388" y="3636264"/>
            <a:ext cx="0" cy="90424"/>
          </a:xfrm>
          <a:prstGeom prst="line">
            <a:avLst/>
          </a:prstGeom>
          <a:ln w="22860">
            <a:solidFill>
              <a:srgbClr val="1214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5700395" y="3743642"/>
                <a:ext cx="5221986" cy="361696"/>
              </a:xfrm>
              <a:prstGeom prst="rect">
                <a:avLst/>
              </a:prstGeom>
              <a:solidFill>
                <a:srgbClr val="F6F5EF"/>
              </a:solidFill>
              <a:ln w="16510">
                <a:solidFill>
                  <a:srgbClr val="8A86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63500" tIns="25400" rIns="63500" bIns="254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kumimoji="0" lang="en-US" sz="1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sz="1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𝐬𝐨𝐟𝐭𝐦𝐚𝐱</m:t>
                          </m:r>
                        </m:e>
                        <m: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d>
                        <m:d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5F3EC"/>
                  </a:solidFill>
                  <a:effectLst/>
                  <a:uLnTx/>
                  <a:uFillTx/>
                  <a:latin typeface="Arial"/>
                  <a:ea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normalized</a:t>
                </a:r>
                <a:r>
                  <a:rPr kumimoji="0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over node i's neighbors in this branch</a:t>
                </a: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395" y="3743642"/>
                <a:ext cx="5221986" cy="361696"/>
              </a:xfrm>
              <a:prstGeom prst="rect">
                <a:avLst/>
              </a:prstGeom>
              <a:blipFill>
                <a:blip r:embed="rId8"/>
                <a:stretch>
                  <a:fillRect b="-15714"/>
                </a:stretch>
              </a:blipFill>
              <a:ln w="16510">
                <a:solidFill>
                  <a:srgbClr val="8A8672"/>
                </a:solidFill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Connector 56"/>
          <p:cNvCxnSpPr/>
          <p:nvPr/>
        </p:nvCxnSpPr>
        <p:spPr>
          <a:xfrm>
            <a:off x="8311388" y="4122293"/>
            <a:ext cx="0" cy="90424"/>
          </a:xfrm>
          <a:prstGeom prst="line">
            <a:avLst/>
          </a:prstGeom>
          <a:ln w="22860">
            <a:solidFill>
              <a:srgbClr val="1214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5700395" y="4229672"/>
                <a:ext cx="5221986" cy="587756"/>
              </a:xfrm>
              <a:prstGeom prst="rect">
                <a:avLst/>
              </a:prstGeom>
              <a:solidFill>
                <a:srgbClr val="F6F5EF"/>
              </a:solidFill>
              <a:ln w="16510">
                <a:solidFill>
                  <a:srgbClr val="8A86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63500" tIns="25400" rIns="63500" bIns="254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kumimoji="0" lang="en-US" sz="1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𝐦𝐞𝐬𝐬𝐚𝐠𝐞</m:t>
                          </m:r>
                        </m:e>
                        <m: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kumimoji="0" lang="en-US" sz="1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kumimoji="0" lang="en-US" sz="1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kumimoji="0" lang="en-US" sz="1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kumimoji="0" lang="en-US" sz="1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12141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1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12141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0" lang="en-US" sz="1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12141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5F3EC"/>
                  </a:solidFill>
                  <a:effectLst/>
                  <a:uLnTx/>
                  <a:uFillTx/>
                  <a:latin typeface="Arial"/>
                  <a:ea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sz="1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2141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0" lang="en-US" sz="1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2141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kumimoji="0" lang="en-US" sz="1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2141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kumimoji="0" lang="en-US" sz="1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2141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𝐛𝐫𝐚𝐧𝐜𝐡</m:t>
                        </m:r>
                      </m:sup>
                    </m:sSubSup>
                    <m:r>
                      <a:rPr kumimoji="0" lang="en-US" sz="1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2141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kumimoji="0" lang="en-US" sz="1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2141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0" lang="en-US" sz="1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2141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kumimoji="0" lang="en-US" sz="10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2141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0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2141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𝐦𝐞𝐬𝐬𝐚𝐠𝐞</m:t>
                            </m:r>
                          </m:e>
                          <m:sub>
                            <m:r>
                              <a:rPr kumimoji="0" lang="en-US" sz="10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2141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0" lang="en-US" sz="9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</a:rPr>
                  <a:t>  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sum</a:t>
                </a:r>
                <a:r>
                  <a:rPr kumimoji="0" lang="en-US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1417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over i's neighbors in this branch</a:t>
                </a: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395" y="4229672"/>
                <a:ext cx="5221986" cy="587756"/>
              </a:xfrm>
              <a:prstGeom prst="rect">
                <a:avLst/>
              </a:prstGeom>
              <a:blipFill>
                <a:blip r:embed="rId9"/>
                <a:stretch>
                  <a:fillRect t="-901" b="-32432"/>
                </a:stretch>
              </a:blipFill>
              <a:ln w="16510">
                <a:solidFill>
                  <a:srgbClr val="8A8672"/>
                </a:solidFill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onnector 58"/>
          <p:cNvCxnSpPr/>
          <p:nvPr/>
        </p:nvCxnSpPr>
        <p:spPr>
          <a:xfrm>
            <a:off x="8311388" y="4834382"/>
            <a:ext cx="0" cy="90424"/>
          </a:xfrm>
          <a:prstGeom prst="line">
            <a:avLst/>
          </a:prstGeom>
          <a:ln w="22860">
            <a:solidFill>
              <a:srgbClr val="1214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7214997" y="4941760"/>
                <a:ext cx="2192782" cy="237363"/>
              </a:xfrm>
              <a:prstGeom prst="rect">
                <a:avLst/>
              </a:prstGeom>
              <a:solidFill>
                <a:srgbClr val="F6F5EF"/>
              </a:solidFill>
              <a:ln w="16510">
                <a:solidFill>
                  <a:srgbClr val="8A86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63500" tIns="25400" rIns="63500" bIns="254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kumimoji="0" lang="en-US" sz="115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sz="115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kumimoji="0" lang="en-US" sz="115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kumimoji="0" lang="en-US" sz="115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𝐛𝐫𝐚𝐧𝐜𝐡</m:t>
                          </m:r>
                        </m:sup>
                      </m:sSubSup>
                      <m:r>
                        <a:rPr kumimoji="0" lang="en-US" sz="115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141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en-US" sz="115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115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0" lang="en-US" sz="115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2141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𝒅</m:t>
                          </m:r>
                        </m:sup>
                      </m:sSup>
                    </m:oMath>
                  </m:oMathPara>
                </a14:m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5F3EC"/>
                  </a:solidFill>
                  <a:effectLst/>
                  <a:uLnTx/>
                  <a:uFillTx/>
                  <a:latin typeface="Arial"/>
                  <a:ea typeface="+mn-ea"/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997" y="4941760"/>
                <a:ext cx="2192782" cy="237363"/>
              </a:xfrm>
              <a:prstGeom prst="rect">
                <a:avLst/>
              </a:prstGeom>
              <a:blipFill>
                <a:blip r:embed="rId10"/>
                <a:stretch>
                  <a:fillRect b="-2128"/>
                </a:stretch>
              </a:blipFill>
              <a:ln w="16510">
                <a:solidFill>
                  <a:srgbClr val="8A8672"/>
                </a:solidFill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nector 60"/>
          <p:cNvCxnSpPr/>
          <p:nvPr/>
        </p:nvCxnSpPr>
        <p:spPr>
          <a:xfrm flipH="1">
            <a:off x="7579519" y="5196078"/>
            <a:ext cx="505809" cy="146939"/>
          </a:xfrm>
          <a:prstGeom prst="line">
            <a:avLst/>
          </a:prstGeom>
          <a:ln w="20320">
            <a:solidFill>
              <a:srgbClr val="002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37448" y="5196078"/>
            <a:ext cx="505809" cy="146939"/>
          </a:xfrm>
          <a:prstGeom prst="line">
            <a:avLst/>
          </a:prstGeom>
          <a:ln w="2032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5700395" y="5359972"/>
            <a:ext cx="2401888" cy="486029"/>
          </a:xfrm>
          <a:prstGeom prst="rect">
            <a:avLst/>
          </a:prstGeom>
          <a:solidFill>
            <a:srgbClr val="F6F5EF"/>
          </a:solidFill>
          <a:ln w="1651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SPATIAL BRANCH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neighbors: k</a:t>
            </a:r>
            <a:r>
              <a:rPr kumimoji="0" lang="it-IT" sz="85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-</a:t>
            </a: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nearest, frame f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hidden dim: 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20494" y="5359972"/>
            <a:ext cx="2401888" cy="486029"/>
          </a:xfrm>
          <a:prstGeom prst="rect">
            <a:avLst/>
          </a:prstGeom>
          <a:solidFill>
            <a:srgbClr val="F6F5EF"/>
          </a:solidFill>
          <a:ln w="1651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TEMPORAL BRANCH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neighbor: self, frame f → f+1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hidden dim: 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5700395" y="5926236"/>
                <a:ext cx="5221986" cy="5961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2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final model</a:t>
                </a:r>
                <a:r>
                  <a:rPr kumimoji="0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: </a:t>
                </a:r>
                <a:r>
                  <a:rPr kumimoji="0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hidden_dim</a:t>
                </a:r>
                <a:r>
                  <a:rPr kumimoji="0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=</a:t>
                </a:r>
                <a:r>
                  <a:rPr kumimoji="0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64</a:t>
                </a:r>
                <a:r>
                  <a:rPr kumimoji="0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→ </a:t>
                </a:r>
                <a:endParaRPr kumimoji="0" lang="it-IT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8A8672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endParaRPr>
              </a:p>
              <a:p>
                <a:pPr lvl="0" algn="ctr">
                  <a:lnSpc>
                    <a:spcPct val="122000"/>
                  </a:lnSpc>
                  <a:defRPr/>
                </a:pPr>
                <a:r>
                  <a:rPr lang="it-IT" sz="800" dirty="0">
                    <a:solidFill>
                      <a:srgbClr val="8A8672"/>
                    </a:solidFill>
                    <a:latin typeface="Cascadia Code SemiLight"/>
                  </a:rPr>
                  <a:t> → </a:t>
                </a:r>
                <a:r>
                  <a:rPr kumimoji="0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encoder hidden </a:t>
                </a:r>
                <a:r>
                  <a:rPr kumimoji="0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62</a:t>
                </a:r>
                <a:r>
                  <a:rPr kumimoji="0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= 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20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(spatial) + 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42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(temporal) </a:t>
                </a:r>
                <a:r>
                  <a:rPr lang="it-IT" sz="800" dirty="0">
                    <a:solidFill>
                      <a:srgbClr val="8A8672"/>
                    </a:solidFill>
                    <a:latin typeface="Cascadia Code SemiLight"/>
                  </a:rPr>
                  <a:t>→ 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8A8672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endParaRPr>
              </a:p>
              <a:p>
                <a:pPr lvl="0" algn="ctr">
                  <a:lnSpc>
                    <a:spcPct val="122000"/>
                  </a:lnSpc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→ fuse (Linear 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62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 → 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62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) </a:t>
                </a:r>
                <a:r>
                  <a:rPr lang="it-IT" sz="800" dirty="0">
                    <a:solidFill>
                      <a:srgbClr val="8A8672"/>
                    </a:solidFill>
                    <a:latin typeface="Cascadia Code SemiLight"/>
                  </a:rPr>
                  <a:t>→ 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8A8672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endParaRPr>
              </a:p>
              <a:p>
                <a:pPr lvl="0" algn="ctr">
                  <a:lnSpc>
                    <a:spcPct val="122000"/>
                  </a:lnSpc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8672"/>
                    </a:solidFill>
                    <a:effectLst/>
                    <a:uLnTx/>
                    <a:uFillTx/>
                    <a:latin typeface="Cascadia Code SemiLight"/>
                    <a:ea typeface="+mn-ea"/>
                    <a:cs typeface="+mn-cs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85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A867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85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A867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kumimoji="0" lang="en-US" sz="85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A867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0" lang="en-US" sz="85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A867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0" lang="en-US" sz="85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A867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85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A867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0" lang="en-US" sz="85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A867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𝟔𝟐</m:t>
                        </m:r>
                      </m:sup>
                    </m:sSup>
                  </m:oMath>
                </a14:m>
                <a:endPara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8A8672"/>
                  </a:solidFill>
                  <a:effectLst/>
                  <a:uLnTx/>
                  <a:uFillTx/>
                  <a:latin typeface="Cascadia Code SemiLight"/>
                  <a:ea typeface="+mn-ea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395" y="5926236"/>
                <a:ext cx="5221986" cy="596121"/>
              </a:xfrm>
              <a:prstGeom prst="rect">
                <a:avLst/>
              </a:prstGeom>
              <a:blipFill>
                <a:blip r:embed="rId11"/>
                <a:stretch>
                  <a:fillRect t="-4587" b="-119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Oval 68">
            <a:extLst>
              <a:ext uri="{FF2B5EF4-FFF2-40B4-BE49-F238E27FC236}">
                <a16:creationId xmlns:a16="http://schemas.microsoft.com/office/drawing/2014/main" id="{42975A65-AFE0-1938-E7BD-A28F7E9EE7B5}"/>
              </a:ext>
            </a:extLst>
          </p:cNvPr>
          <p:cNvSpPr/>
          <p:nvPr/>
        </p:nvSpPr>
        <p:spPr>
          <a:xfrm>
            <a:off x="4060956" y="2786205"/>
            <a:ext cx="101727" cy="101727"/>
          </a:xfrm>
          <a:prstGeom prst="ellipse">
            <a:avLst/>
          </a:prstGeom>
          <a:solidFill>
            <a:srgbClr val="CFCBBE"/>
          </a:solidFill>
          <a:ln>
            <a:solidFill>
              <a:srgbClr val="CF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CC39A70-6927-200E-E19D-1884DF689AD1}"/>
              </a:ext>
            </a:extLst>
          </p:cNvPr>
          <p:cNvSpPr txBox="1"/>
          <p:nvPr/>
        </p:nvSpPr>
        <p:spPr>
          <a:xfrm>
            <a:off x="1545855" y="3497326"/>
            <a:ext cx="1770278" cy="198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FRAME f</a:t>
            </a:r>
            <a:r>
              <a:rPr kumimoji="0" lang="it-IT" sz="1150" b="1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 + 1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rgbClr val="8A8672"/>
              </a:solidFill>
              <a:effectLst/>
              <a:uLnTx/>
              <a:uFillTx/>
              <a:latin typeface="Cascadia Code SemiBold"/>
              <a:ea typeface="+mn-ea"/>
              <a:cs typeface="+mn-cs"/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1CF265FB-DD2F-EAA4-93E3-D11A189B2AAC}"/>
              </a:ext>
            </a:extLst>
          </p:cNvPr>
          <p:cNvSpPr/>
          <p:nvPr/>
        </p:nvSpPr>
        <p:spPr>
          <a:xfrm>
            <a:off x="2410091" y="3909376"/>
            <a:ext cx="101727" cy="101727"/>
          </a:xfrm>
          <a:prstGeom prst="ellipse">
            <a:avLst/>
          </a:prstGeom>
          <a:solidFill>
            <a:srgbClr val="CFCBBE"/>
          </a:solidFill>
          <a:ln>
            <a:solidFill>
              <a:srgbClr val="CF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67211B84-EAB5-6274-6E00-43F773DDD9CE}"/>
              </a:ext>
            </a:extLst>
          </p:cNvPr>
          <p:cNvSpPr/>
          <p:nvPr/>
        </p:nvSpPr>
        <p:spPr>
          <a:xfrm>
            <a:off x="2289624" y="4860815"/>
            <a:ext cx="101727" cy="101727"/>
          </a:xfrm>
          <a:prstGeom prst="ellipse">
            <a:avLst/>
          </a:prstGeom>
          <a:solidFill>
            <a:srgbClr val="CFCBBE"/>
          </a:solidFill>
          <a:ln>
            <a:solidFill>
              <a:srgbClr val="CF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4C882B04-5C97-DCD7-5F08-8811F060D3EC}"/>
              </a:ext>
            </a:extLst>
          </p:cNvPr>
          <p:cNvSpPr/>
          <p:nvPr/>
        </p:nvSpPr>
        <p:spPr>
          <a:xfrm>
            <a:off x="2002439" y="4493564"/>
            <a:ext cx="101727" cy="101727"/>
          </a:xfrm>
          <a:prstGeom prst="ellipse">
            <a:avLst/>
          </a:prstGeom>
          <a:solidFill>
            <a:srgbClr val="CFCBBE"/>
          </a:solidFill>
          <a:ln>
            <a:solidFill>
              <a:srgbClr val="CF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E16BE1D-4D24-1540-2601-6A67078C4454}"/>
              </a:ext>
            </a:extLst>
          </p:cNvPr>
          <p:cNvSpPr/>
          <p:nvPr/>
        </p:nvSpPr>
        <p:spPr>
          <a:xfrm>
            <a:off x="2548379" y="4427170"/>
            <a:ext cx="101727" cy="101727"/>
          </a:xfrm>
          <a:prstGeom prst="ellipse">
            <a:avLst/>
          </a:prstGeom>
          <a:solidFill>
            <a:srgbClr val="CFCBBE"/>
          </a:solidFill>
          <a:ln>
            <a:solidFill>
              <a:srgbClr val="CF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0" name="Connector 15">
            <a:extLst>
              <a:ext uri="{FF2B5EF4-FFF2-40B4-BE49-F238E27FC236}">
                <a16:creationId xmlns:a16="http://schemas.microsoft.com/office/drawing/2014/main" id="{CDD4A659-CDE5-6A64-9F40-84F81BCE3807}"/>
              </a:ext>
            </a:extLst>
          </p:cNvPr>
          <p:cNvCxnSpPr>
            <a:cxnSpLocks/>
            <a:endCxn id="135" idx="5"/>
          </p:cNvCxnSpPr>
          <p:nvPr/>
        </p:nvCxnSpPr>
        <p:spPr>
          <a:xfrm flipH="1" flipV="1">
            <a:off x="3075144" y="4025149"/>
            <a:ext cx="379450" cy="428855"/>
          </a:xfrm>
          <a:prstGeom prst="line">
            <a:avLst/>
          </a:prstGeom>
          <a:ln w="27940">
            <a:solidFill>
              <a:srgbClr val="002060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6">
            <a:extLst>
              <a:ext uri="{FF2B5EF4-FFF2-40B4-BE49-F238E27FC236}">
                <a16:creationId xmlns:a16="http://schemas.microsoft.com/office/drawing/2014/main" id="{B19F79D5-FA7D-A918-FEF5-39FB2CF486EE}"/>
              </a:ext>
            </a:extLst>
          </p:cNvPr>
          <p:cNvCxnSpPr>
            <a:cxnSpLocks/>
            <a:endCxn id="136" idx="2"/>
          </p:cNvCxnSpPr>
          <p:nvPr/>
        </p:nvCxnSpPr>
        <p:spPr>
          <a:xfrm flipV="1">
            <a:off x="3454594" y="4419285"/>
            <a:ext cx="340180" cy="149995"/>
          </a:xfrm>
          <a:prstGeom prst="line">
            <a:avLst/>
          </a:prstGeom>
          <a:ln w="27940">
            <a:solidFill>
              <a:srgbClr val="002060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7">
            <a:extLst>
              <a:ext uri="{FF2B5EF4-FFF2-40B4-BE49-F238E27FC236}">
                <a16:creationId xmlns:a16="http://schemas.microsoft.com/office/drawing/2014/main" id="{CA9F5616-1D1A-DA20-1933-1EC8E85BD380}"/>
              </a:ext>
            </a:extLst>
          </p:cNvPr>
          <p:cNvCxnSpPr>
            <a:cxnSpLocks/>
          </p:cNvCxnSpPr>
          <p:nvPr/>
        </p:nvCxnSpPr>
        <p:spPr>
          <a:xfrm>
            <a:off x="3454594" y="4454004"/>
            <a:ext cx="493320" cy="299530"/>
          </a:xfrm>
          <a:prstGeom prst="line">
            <a:avLst/>
          </a:prstGeom>
          <a:ln w="27940">
            <a:solidFill>
              <a:srgbClr val="002060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8">
            <a:extLst>
              <a:ext uri="{FF2B5EF4-FFF2-40B4-BE49-F238E27FC236}">
                <a16:creationId xmlns:a16="http://schemas.microsoft.com/office/drawing/2014/main" id="{649162C0-F1C7-377F-4437-24CCAC99640D}"/>
              </a:ext>
            </a:extLst>
          </p:cNvPr>
          <p:cNvCxnSpPr>
            <a:cxnSpLocks/>
            <a:stCxn id="140" idx="4"/>
            <a:endCxn id="138" idx="0"/>
          </p:cNvCxnSpPr>
          <p:nvPr/>
        </p:nvCxnSpPr>
        <p:spPr>
          <a:xfrm>
            <a:off x="3436227" y="4682890"/>
            <a:ext cx="75040" cy="136778"/>
          </a:xfrm>
          <a:prstGeom prst="line">
            <a:avLst/>
          </a:prstGeom>
          <a:ln w="27940">
            <a:solidFill>
              <a:srgbClr val="002060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9">
            <a:extLst>
              <a:ext uri="{FF2B5EF4-FFF2-40B4-BE49-F238E27FC236}">
                <a16:creationId xmlns:a16="http://schemas.microsoft.com/office/drawing/2014/main" id="{411F5EA4-BD26-8A7C-4961-9759A3733431}"/>
              </a:ext>
            </a:extLst>
          </p:cNvPr>
          <p:cNvCxnSpPr>
            <a:cxnSpLocks/>
            <a:stCxn id="140" idx="7"/>
            <a:endCxn id="139" idx="3"/>
          </p:cNvCxnSpPr>
          <p:nvPr/>
        </p:nvCxnSpPr>
        <p:spPr>
          <a:xfrm flipV="1">
            <a:off x="3569100" y="4087775"/>
            <a:ext cx="109901" cy="274328"/>
          </a:xfrm>
          <a:prstGeom prst="line">
            <a:avLst/>
          </a:prstGeom>
          <a:ln w="27940">
            <a:solidFill>
              <a:srgbClr val="002060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2A7A8540-041E-8C31-3D5D-2CD52DA6D033}"/>
              </a:ext>
            </a:extLst>
          </p:cNvPr>
          <p:cNvSpPr/>
          <p:nvPr/>
        </p:nvSpPr>
        <p:spPr>
          <a:xfrm>
            <a:off x="2959371" y="3909376"/>
            <a:ext cx="135636" cy="135636"/>
          </a:xfrm>
          <a:prstGeom prst="ellipse">
            <a:avLst/>
          </a:prstGeom>
          <a:solidFill>
            <a:srgbClr val="002060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EBE0FBB7-7B98-C6B3-0F24-43EE6A138F0F}"/>
              </a:ext>
            </a:extLst>
          </p:cNvPr>
          <p:cNvSpPr/>
          <p:nvPr/>
        </p:nvSpPr>
        <p:spPr>
          <a:xfrm>
            <a:off x="3794774" y="4351467"/>
            <a:ext cx="135636" cy="135636"/>
          </a:xfrm>
          <a:prstGeom prst="ellipse">
            <a:avLst/>
          </a:prstGeom>
          <a:solidFill>
            <a:srgbClr val="FF0000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5FEFBCBC-0E2F-B782-7F5B-4FA344EAA76D}"/>
              </a:ext>
            </a:extLst>
          </p:cNvPr>
          <p:cNvSpPr/>
          <p:nvPr/>
        </p:nvSpPr>
        <p:spPr>
          <a:xfrm>
            <a:off x="3938350" y="4739693"/>
            <a:ext cx="135636" cy="135636"/>
          </a:xfrm>
          <a:prstGeom prst="ellipse">
            <a:avLst/>
          </a:prstGeom>
          <a:solidFill>
            <a:srgbClr val="002060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3C46D2BE-8CD5-BA49-3A71-AAF887BE5CCA}"/>
              </a:ext>
            </a:extLst>
          </p:cNvPr>
          <p:cNvSpPr/>
          <p:nvPr/>
        </p:nvSpPr>
        <p:spPr>
          <a:xfrm>
            <a:off x="3443449" y="4819668"/>
            <a:ext cx="135636" cy="135636"/>
          </a:xfrm>
          <a:prstGeom prst="ellipse">
            <a:avLst/>
          </a:prstGeom>
          <a:solidFill>
            <a:srgbClr val="FF0000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F8BDFC40-09DE-ADB0-3B09-11CA86FB48A9}"/>
              </a:ext>
            </a:extLst>
          </p:cNvPr>
          <p:cNvSpPr/>
          <p:nvPr/>
        </p:nvSpPr>
        <p:spPr>
          <a:xfrm>
            <a:off x="3659138" y="3972002"/>
            <a:ext cx="135636" cy="135636"/>
          </a:xfrm>
          <a:prstGeom prst="ellipse">
            <a:avLst/>
          </a:prstGeom>
          <a:solidFill>
            <a:srgbClr val="FF0000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825826C4-B25A-5EF1-7A95-DAF812642F5B}"/>
              </a:ext>
            </a:extLst>
          </p:cNvPr>
          <p:cNvSpPr/>
          <p:nvPr/>
        </p:nvSpPr>
        <p:spPr>
          <a:xfrm>
            <a:off x="3248314" y="4307065"/>
            <a:ext cx="375825" cy="375825"/>
          </a:xfrm>
          <a:prstGeom prst="ellipse">
            <a:avLst/>
          </a:prstGeom>
          <a:solidFill>
            <a:srgbClr val="003268"/>
          </a:solidFill>
          <a:ln w="3302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k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scadia Code Light" panose="020B0609020000020004" pitchFamily="49" charset="0"/>
              <a:ea typeface="+mn-ea"/>
              <a:cs typeface="Cascadia Code Light" panose="020B0609020000020004" pitchFamily="49" charset="0"/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E8935E69-3DFF-6974-4AF5-0D4D35F91BE1}"/>
              </a:ext>
            </a:extLst>
          </p:cNvPr>
          <p:cNvSpPr/>
          <p:nvPr/>
        </p:nvSpPr>
        <p:spPr>
          <a:xfrm>
            <a:off x="4208202" y="4644963"/>
            <a:ext cx="101727" cy="101727"/>
          </a:xfrm>
          <a:prstGeom prst="ellipse">
            <a:avLst/>
          </a:prstGeom>
          <a:solidFill>
            <a:srgbClr val="CFCBBE"/>
          </a:solidFill>
          <a:ln>
            <a:solidFill>
              <a:srgbClr val="CF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50" name="Connector 20">
            <a:extLst>
              <a:ext uri="{FF2B5EF4-FFF2-40B4-BE49-F238E27FC236}">
                <a16:creationId xmlns:a16="http://schemas.microsoft.com/office/drawing/2014/main" id="{C1A80B43-E9F3-686A-C5AE-D69A537D6583}"/>
              </a:ext>
            </a:extLst>
          </p:cNvPr>
          <p:cNvCxnSpPr>
            <a:cxnSpLocks/>
            <a:stCxn id="24" idx="4"/>
            <a:endCxn id="137" idx="0"/>
          </p:cNvCxnSpPr>
          <p:nvPr/>
        </p:nvCxnSpPr>
        <p:spPr>
          <a:xfrm>
            <a:off x="3971898" y="2812435"/>
            <a:ext cx="34270" cy="1927259"/>
          </a:xfrm>
          <a:prstGeom prst="line">
            <a:avLst/>
          </a:prstGeom>
          <a:ln w="27940">
            <a:solidFill>
              <a:srgbClr val="FF0000">
                <a:alpha val="30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20">
            <a:extLst>
              <a:ext uri="{FF2B5EF4-FFF2-40B4-BE49-F238E27FC236}">
                <a16:creationId xmlns:a16="http://schemas.microsoft.com/office/drawing/2014/main" id="{230E1FCE-A124-0AA1-6A91-192026C182CC}"/>
              </a:ext>
            </a:extLst>
          </p:cNvPr>
          <p:cNvCxnSpPr>
            <a:cxnSpLocks/>
            <a:stCxn id="22" idx="4"/>
            <a:endCxn id="135" idx="0"/>
          </p:cNvCxnSpPr>
          <p:nvPr/>
        </p:nvCxnSpPr>
        <p:spPr>
          <a:xfrm>
            <a:off x="2939946" y="2204610"/>
            <a:ext cx="87243" cy="1704766"/>
          </a:xfrm>
          <a:prstGeom prst="line">
            <a:avLst/>
          </a:prstGeom>
          <a:ln w="27940">
            <a:solidFill>
              <a:srgbClr val="FF0000">
                <a:alpha val="30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378A2291-2C2F-3E94-4774-8C19F205DDF9}"/>
              </a:ext>
            </a:extLst>
          </p:cNvPr>
          <p:cNvSpPr/>
          <p:nvPr/>
        </p:nvSpPr>
        <p:spPr>
          <a:xfrm>
            <a:off x="985940" y="5256630"/>
            <a:ext cx="3908012" cy="1315273"/>
          </a:xfrm>
          <a:prstGeom prst="rect">
            <a:avLst/>
          </a:prstGeom>
          <a:solidFill>
            <a:srgbClr val="EFEDE4"/>
          </a:solidFill>
          <a:ln>
            <a:solidFill>
              <a:srgbClr val="8A86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E096DC0-AEC4-928F-3770-1D23A948C1A7}"/>
              </a:ext>
            </a:extLst>
          </p:cNvPr>
          <p:cNvGrpSpPr/>
          <p:nvPr/>
        </p:nvGrpSpPr>
        <p:grpSpPr>
          <a:xfrm>
            <a:off x="1182384" y="5321254"/>
            <a:ext cx="3865626" cy="1148784"/>
            <a:chOff x="874651" y="5210819"/>
            <a:chExt cx="4343400" cy="1290769"/>
          </a:xfrm>
        </p:grpSpPr>
        <p:cxnSp>
          <p:nvCxnSpPr>
            <p:cNvPr id="34" name="Connector 33"/>
            <p:cNvCxnSpPr/>
            <p:nvPr/>
          </p:nvCxnSpPr>
          <p:spPr>
            <a:xfrm>
              <a:off x="874651" y="5274319"/>
              <a:ext cx="228600" cy="0"/>
            </a:xfrm>
            <a:prstGeom prst="line">
              <a:avLst/>
            </a:prstGeom>
            <a:ln w="27940">
              <a:solidFill>
                <a:srgbClr val="002060">
                  <a:alpha val="60000"/>
                </a:srgb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1255651" y="5210819"/>
              <a:ext cx="3962400" cy="1804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spatial edge 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Cascadia Code SemiLight"/>
                </a:rPr>
                <a:t>— </a:t>
              </a: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k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-</a:t>
              </a: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nearest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 neighbors</a:t>
              </a: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, same frame</a:t>
              </a:r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874651" y="5445769"/>
              <a:ext cx="228600" cy="0"/>
            </a:xfrm>
            <a:prstGeom prst="line">
              <a:avLst/>
            </a:prstGeom>
            <a:ln w="27940">
              <a:solidFill>
                <a:srgbClr val="FF0000">
                  <a:alpha val="85000"/>
                </a:srgb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1255651" y="5382269"/>
              <a:ext cx="3962400" cy="1804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temporal edge 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Cascadia Code SemiLight"/>
                </a:rPr>
                <a:t>— 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same player</a:t>
              </a: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, frame f → f+1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925451" y="5573177"/>
              <a:ext cx="127000" cy="127000"/>
            </a:xfrm>
            <a:prstGeom prst="ellipse">
              <a:avLst/>
            </a:prstGeom>
            <a:solidFill>
              <a:srgbClr val="003268"/>
            </a:solidFill>
            <a:ln w="20320">
              <a:solidFill>
                <a:srgbClr val="0020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5F3E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255651" y="5573177"/>
              <a:ext cx="3962400" cy="1804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node </a:t>
              </a:r>
              <a:r>
                <a:rPr kumimoji="0" sz="9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</a:t>
              </a: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 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Cascadia Code SemiLight"/>
                </a:rPr>
                <a:t>— 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target </a:t>
              </a: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player p, frame f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1D6873C0-6F23-3E20-7C3E-E4AC0D29330A}"/>
                </a:ext>
              </a:extLst>
            </p:cNvPr>
            <p:cNvSpPr/>
            <p:nvPr/>
          </p:nvSpPr>
          <p:spPr>
            <a:xfrm>
              <a:off x="925451" y="5753611"/>
              <a:ext cx="127000" cy="127000"/>
            </a:xfrm>
            <a:prstGeom prst="ellipse">
              <a:avLst/>
            </a:prstGeom>
            <a:solidFill>
              <a:srgbClr val="003268"/>
            </a:solidFill>
            <a:ln w="2032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5F3E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91D2BCF-E548-9561-44F2-211119229641}"/>
                </a:ext>
              </a:extLst>
            </p:cNvPr>
            <p:cNvSpPr txBox="1"/>
            <p:nvPr/>
          </p:nvSpPr>
          <p:spPr>
            <a:xfrm>
              <a:off x="1255651" y="5753611"/>
              <a:ext cx="3962400" cy="1804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node 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k</a:t>
              </a: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 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Cascadia Code SemiLight"/>
                </a:rPr>
                <a:t>— 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same </a:t>
              </a:r>
              <a:r>
                <a:rPr kumimoji="0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player p, frame f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+1</a:t>
              </a:r>
              <a:endParaRPr kumimoji="0" sz="9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endParaRP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2F32FB9E-721B-EC08-B40A-FCED97EEE6E9}"/>
                </a:ext>
              </a:extLst>
            </p:cNvPr>
            <p:cNvSpPr/>
            <p:nvPr/>
          </p:nvSpPr>
          <p:spPr>
            <a:xfrm>
              <a:off x="925451" y="5948824"/>
              <a:ext cx="127000" cy="127000"/>
            </a:xfrm>
            <a:prstGeom prst="ellipse">
              <a:avLst/>
            </a:prstGeom>
            <a:solidFill>
              <a:srgbClr val="002060"/>
            </a:solidFill>
            <a:ln w="2032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5F3E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C1240CA3-96B0-9FA9-06B6-986F85EC4967}"/>
                </a:ext>
              </a:extLst>
            </p:cNvPr>
            <p:cNvSpPr txBox="1"/>
            <p:nvPr/>
          </p:nvSpPr>
          <p:spPr>
            <a:xfrm>
              <a:off x="1255651" y="5948824"/>
              <a:ext cx="3962400" cy="1804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offensive node 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Cascadia Code SemiLight"/>
                </a:rPr>
                <a:t>— 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neighbor player, same frame</a:t>
              </a:r>
              <a:endParaRPr kumimoji="0" sz="9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B2AB4D9B-D05A-D74A-AC93-E24F529EA44E}"/>
                </a:ext>
              </a:extLst>
            </p:cNvPr>
            <p:cNvSpPr/>
            <p:nvPr/>
          </p:nvSpPr>
          <p:spPr>
            <a:xfrm>
              <a:off x="925451" y="6144268"/>
              <a:ext cx="127000" cy="127000"/>
            </a:xfrm>
            <a:prstGeom prst="ellipse">
              <a:avLst/>
            </a:prstGeom>
            <a:solidFill>
              <a:srgbClr val="FF0000"/>
            </a:solidFill>
            <a:ln w="2032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5F3E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13B7144-1298-48A8-28F1-DA15F69DEA01}"/>
                </a:ext>
              </a:extLst>
            </p:cNvPr>
            <p:cNvSpPr txBox="1"/>
            <p:nvPr/>
          </p:nvSpPr>
          <p:spPr>
            <a:xfrm>
              <a:off x="1255651" y="6144268"/>
              <a:ext cx="3962400" cy="1804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defensive node 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Cascadia Code SemiLight"/>
                </a:rPr>
                <a:t>— 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neighbor player, same frame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D47F371C-1FAB-35AB-093E-81C95E762E35}"/>
                </a:ext>
              </a:extLst>
            </p:cNvPr>
            <p:cNvSpPr/>
            <p:nvPr/>
          </p:nvSpPr>
          <p:spPr>
            <a:xfrm>
              <a:off x="925451" y="6321154"/>
              <a:ext cx="127000" cy="127000"/>
            </a:xfrm>
            <a:prstGeom prst="ellipse">
              <a:avLst/>
            </a:prstGeom>
            <a:solidFill>
              <a:srgbClr val="CFCBBE"/>
            </a:solidFill>
            <a:ln w="20320">
              <a:solidFill>
                <a:srgbClr val="CFCB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5F3E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30D203CA-8229-5574-4B6D-C3FE0D446CBB}"/>
                </a:ext>
              </a:extLst>
            </p:cNvPr>
            <p:cNvSpPr txBox="1"/>
            <p:nvPr/>
          </p:nvSpPr>
          <p:spPr>
            <a:xfrm>
              <a:off x="1255651" y="6321154"/>
              <a:ext cx="3962400" cy="1804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other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 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node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 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Cascadia Code SemiLight"/>
                </a:rPr>
                <a:t>— </a:t>
              </a:r>
              <a:r>
                <a:rPr kumimoji="0" lang="it-IT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21417"/>
                  </a:solidFill>
                  <a:effectLst/>
                  <a:uLnTx/>
                  <a:uFillTx/>
                  <a:latin typeface="Cascadia Code SemiLight"/>
                  <a:ea typeface="+mn-ea"/>
                  <a:cs typeface="+mn-cs"/>
                </a:rPr>
                <a:t>player outside the k-nearest</a:t>
              </a:r>
              <a:endParaRPr kumimoji="0" sz="95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endParaRPr>
            </a:p>
          </p:txBody>
        </p:sp>
      </p:grpSp>
      <p:sp>
        <p:nvSpPr>
          <p:cNvPr id="77" name="Text 0">
            <a:extLst>
              <a:ext uri="{FF2B5EF4-FFF2-40B4-BE49-F238E27FC236}">
                <a16:creationId xmlns:a16="http://schemas.microsoft.com/office/drawing/2014/main" id="{D5DF9466-1F1E-2200-056F-33D6444F1A15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9" name="Text 0">
            <a:extLst>
              <a:ext uri="{FF2B5EF4-FFF2-40B4-BE49-F238E27FC236}">
                <a16:creationId xmlns:a16="http://schemas.microsoft.com/office/drawing/2014/main" id="{9DFD71CC-CE65-6B74-20B4-1A5929B1360C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003268"/>
                </a:solidFill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F60A8DBA-63C8-6319-17B3-FF22F2F7EA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6D411377-A52B-1D1A-2AFB-A6C0AC5E574C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65"/>
              </a:lnSpc>
            </a:pPr>
            <a:r>
              <a:rPr lang="en-US" sz="1200" kern="0" spc="75" dirty="0">
                <a:solidFill>
                  <a:srgbClr val="003268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-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Big Data Analytics and Text Mining</a:t>
            </a:r>
            <a:r>
              <a:rPr lang="en-US" sz="1200" b="1" kern="0" spc="75" dirty="0">
                <a:solidFill>
                  <a:srgbClr val="003268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93AC93D-F25E-DC86-FB91-6AC1CEBA5E7E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1200" kern="0" spc="75" dirty="0">
                <a:solidFill>
                  <a:srgbClr val="003268"/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Ponzuoli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Giovanni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	    - </a:t>
            </a:r>
            <a:endParaRPr lang="en-US" sz="1200" dirty="0">
              <a:solidFill>
                <a:srgbClr val="003268">
                  <a:alpha val="50000"/>
                </a:srgbClr>
              </a:solidFill>
              <a:latin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A8FAC3E2-AE50-372F-39D2-6E1DB5E3B7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noFill/>
          <a:effectLst>
            <a:softEdge rad="317500"/>
          </a:effec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B2E56D8-4D34-CBC1-807C-C78AD5D4A2AF}"/>
              </a:ext>
            </a:extLst>
          </p:cNvPr>
          <p:cNvSpPr/>
          <p:nvPr/>
        </p:nvSpPr>
        <p:spPr>
          <a:xfrm>
            <a:off x="3770516" y="3509843"/>
            <a:ext cx="4661667" cy="944808"/>
          </a:xfrm>
          <a:custGeom>
            <a:avLst/>
            <a:gdLst>
              <a:gd name="csX0" fmla="*/ 0 w 4661667"/>
              <a:gd name="csY0" fmla="*/ 0 h 944808"/>
              <a:gd name="csX1" fmla="*/ 489475 w 4661667"/>
              <a:gd name="csY1" fmla="*/ 0 h 944808"/>
              <a:gd name="csX2" fmla="*/ 1025567 w 4661667"/>
              <a:gd name="csY2" fmla="*/ 0 h 944808"/>
              <a:gd name="csX3" fmla="*/ 1515042 w 4661667"/>
              <a:gd name="csY3" fmla="*/ 0 h 944808"/>
              <a:gd name="csX4" fmla="*/ 2144367 w 4661667"/>
              <a:gd name="csY4" fmla="*/ 0 h 944808"/>
              <a:gd name="csX5" fmla="*/ 2727075 w 4661667"/>
              <a:gd name="csY5" fmla="*/ 0 h 944808"/>
              <a:gd name="csX6" fmla="*/ 3309784 w 4661667"/>
              <a:gd name="csY6" fmla="*/ 0 h 944808"/>
              <a:gd name="csX7" fmla="*/ 3985725 w 4661667"/>
              <a:gd name="csY7" fmla="*/ 0 h 944808"/>
              <a:gd name="csX8" fmla="*/ 4661667 w 4661667"/>
              <a:gd name="csY8" fmla="*/ 0 h 944808"/>
              <a:gd name="csX9" fmla="*/ 4661667 w 4661667"/>
              <a:gd name="csY9" fmla="*/ 444060 h 944808"/>
              <a:gd name="csX10" fmla="*/ 4661667 w 4661667"/>
              <a:gd name="csY10" fmla="*/ 944808 h 944808"/>
              <a:gd name="csX11" fmla="*/ 4218809 w 4661667"/>
              <a:gd name="csY11" fmla="*/ 944808 h 944808"/>
              <a:gd name="csX12" fmla="*/ 3729334 w 4661667"/>
              <a:gd name="csY12" fmla="*/ 944808 h 944808"/>
              <a:gd name="csX13" fmla="*/ 3100009 w 4661667"/>
              <a:gd name="csY13" fmla="*/ 944808 h 944808"/>
              <a:gd name="csX14" fmla="*/ 2424067 w 4661667"/>
              <a:gd name="csY14" fmla="*/ 944808 h 944808"/>
              <a:gd name="csX15" fmla="*/ 1887975 w 4661667"/>
              <a:gd name="csY15" fmla="*/ 944808 h 944808"/>
              <a:gd name="csX16" fmla="*/ 1212033 w 4661667"/>
              <a:gd name="csY16" fmla="*/ 944808 h 944808"/>
              <a:gd name="csX17" fmla="*/ 722558 w 4661667"/>
              <a:gd name="csY17" fmla="*/ 944808 h 944808"/>
              <a:gd name="csX18" fmla="*/ 0 w 4661667"/>
              <a:gd name="csY18" fmla="*/ 944808 h 944808"/>
              <a:gd name="csX19" fmla="*/ 0 w 4661667"/>
              <a:gd name="csY19" fmla="*/ 500748 h 944808"/>
              <a:gd name="csX20" fmla="*/ 0 w 4661667"/>
              <a:gd name="csY20" fmla="*/ 0 h 944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661667" h="944808" fill="none" extrusionOk="0">
                <a:moveTo>
                  <a:pt x="0" y="0"/>
                </a:moveTo>
                <a:cubicBezTo>
                  <a:pt x="215502" y="-50231"/>
                  <a:pt x="366431" y="55926"/>
                  <a:pt x="489475" y="0"/>
                </a:cubicBezTo>
                <a:cubicBezTo>
                  <a:pt x="612519" y="-55926"/>
                  <a:pt x="880486" y="64203"/>
                  <a:pt x="1025567" y="0"/>
                </a:cubicBezTo>
                <a:cubicBezTo>
                  <a:pt x="1170648" y="-64203"/>
                  <a:pt x="1333230" y="22968"/>
                  <a:pt x="1515042" y="0"/>
                </a:cubicBezTo>
                <a:cubicBezTo>
                  <a:pt x="1696854" y="-22968"/>
                  <a:pt x="1844089" y="39900"/>
                  <a:pt x="2144367" y="0"/>
                </a:cubicBezTo>
                <a:cubicBezTo>
                  <a:pt x="2444645" y="-39900"/>
                  <a:pt x="2473074" y="40397"/>
                  <a:pt x="2727075" y="0"/>
                </a:cubicBezTo>
                <a:cubicBezTo>
                  <a:pt x="2981076" y="-40397"/>
                  <a:pt x="3057640" y="64712"/>
                  <a:pt x="3309784" y="0"/>
                </a:cubicBezTo>
                <a:cubicBezTo>
                  <a:pt x="3561928" y="-64712"/>
                  <a:pt x="3746509" y="9346"/>
                  <a:pt x="3985725" y="0"/>
                </a:cubicBezTo>
                <a:cubicBezTo>
                  <a:pt x="4224941" y="-9346"/>
                  <a:pt x="4327658" y="16420"/>
                  <a:pt x="4661667" y="0"/>
                </a:cubicBezTo>
                <a:cubicBezTo>
                  <a:pt x="4684449" y="220421"/>
                  <a:pt x="4647705" y="254365"/>
                  <a:pt x="4661667" y="444060"/>
                </a:cubicBezTo>
                <a:cubicBezTo>
                  <a:pt x="4675629" y="633755"/>
                  <a:pt x="4627358" y="764578"/>
                  <a:pt x="4661667" y="944808"/>
                </a:cubicBezTo>
                <a:cubicBezTo>
                  <a:pt x="4528410" y="961696"/>
                  <a:pt x="4377753" y="912245"/>
                  <a:pt x="4218809" y="944808"/>
                </a:cubicBezTo>
                <a:cubicBezTo>
                  <a:pt x="4059865" y="977371"/>
                  <a:pt x="3836016" y="926413"/>
                  <a:pt x="3729334" y="944808"/>
                </a:cubicBezTo>
                <a:cubicBezTo>
                  <a:pt x="3622652" y="963203"/>
                  <a:pt x="3318882" y="940926"/>
                  <a:pt x="3100009" y="944808"/>
                </a:cubicBezTo>
                <a:cubicBezTo>
                  <a:pt x="2881137" y="948690"/>
                  <a:pt x="2616959" y="914751"/>
                  <a:pt x="2424067" y="944808"/>
                </a:cubicBezTo>
                <a:cubicBezTo>
                  <a:pt x="2231175" y="974865"/>
                  <a:pt x="2142211" y="908327"/>
                  <a:pt x="1887975" y="944808"/>
                </a:cubicBezTo>
                <a:cubicBezTo>
                  <a:pt x="1633739" y="981289"/>
                  <a:pt x="1435099" y="896409"/>
                  <a:pt x="1212033" y="944808"/>
                </a:cubicBezTo>
                <a:cubicBezTo>
                  <a:pt x="988967" y="993207"/>
                  <a:pt x="851892" y="914666"/>
                  <a:pt x="722558" y="944808"/>
                </a:cubicBezTo>
                <a:cubicBezTo>
                  <a:pt x="593225" y="974950"/>
                  <a:pt x="189977" y="872402"/>
                  <a:pt x="0" y="944808"/>
                </a:cubicBezTo>
                <a:cubicBezTo>
                  <a:pt x="-21807" y="778828"/>
                  <a:pt x="29523" y="647653"/>
                  <a:pt x="0" y="500748"/>
                </a:cubicBezTo>
                <a:cubicBezTo>
                  <a:pt x="-29523" y="353843"/>
                  <a:pt x="9022" y="200788"/>
                  <a:pt x="0" y="0"/>
                </a:cubicBezTo>
                <a:close/>
              </a:path>
              <a:path w="4661667" h="944808" stroke="0" extrusionOk="0">
                <a:moveTo>
                  <a:pt x="0" y="0"/>
                </a:moveTo>
                <a:cubicBezTo>
                  <a:pt x="147585" y="-37092"/>
                  <a:pt x="356685" y="30244"/>
                  <a:pt x="536092" y="0"/>
                </a:cubicBezTo>
                <a:cubicBezTo>
                  <a:pt x="715499" y="-30244"/>
                  <a:pt x="796491" y="48567"/>
                  <a:pt x="978950" y="0"/>
                </a:cubicBezTo>
                <a:cubicBezTo>
                  <a:pt x="1161409" y="-48567"/>
                  <a:pt x="1421708" y="55245"/>
                  <a:pt x="1654892" y="0"/>
                </a:cubicBezTo>
                <a:cubicBezTo>
                  <a:pt x="1888076" y="-55245"/>
                  <a:pt x="2052533" y="10880"/>
                  <a:pt x="2190983" y="0"/>
                </a:cubicBezTo>
                <a:cubicBezTo>
                  <a:pt x="2329433" y="-10880"/>
                  <a:pt x="2574939" y="35469"/>
                  <a:pt x="2727075" y="0"/>
                </a:cubicBezTo>
                <a:cubicBezTo>
                  <a:pt x="2879211" y="-35469"/>
                  <a:pt x="3260080" y="23351"/>
                  <a:pt x="3403017" y="0"/>
                </a:cubicBezTo>
                <a:cubicBezTo>
                  <a:pt x="3545954" y="-23351"/>
                  <a:pt x="3749759" y="39840"/>
                  <a:pt x="3892492" y="0"/>
                </a:cubicBezTo>
                <a:cubicBezTo>
                  <a:pt x="4035226" y="-39840"/>
                  <a:pt x="4307408" y="80928"/>
                  <a:pt x="4661667" y="0"/>
                </a:cubicBezTo>
                <a:cubicBezTo>
                  <a:pt x="4663994" y="179130"/>
                  <a:pt x="4625619" y="362895"/>
                  <a:pt x="4661667" y="491300"/>
                </a:cubicBezTo>
                <a:cubicBezTo>
                  <a:pt x="4697715" y="619705"/>
                  <a:pt x="4636650" y="722427"/>
                  <a:pt x="4661667" y="944808"/>
                </a:cubicBezTo>
                <a:cubicBezTo>
                  <a:pt x="4493709" y="1014407"/>
                  <a:pt x="4287761" y="879424"/>
                  <a:pt x="4078959" y="944808"/>
                </a:cubicBezTo>
                <a:cubicBezTo>
                  <a:pt x="3870157" y="1010192"/>
                  <a:pt x="3774215" y="901569"/>
                  <a:pt x="3542867" y="944808"/>
                </a:cubicBezTo>
                <a:cubicBezTo>
                  <a:pt x="3311519" y="988047"/>
                  <a:pt x="3097992" y="896018"/>
                  <a:pt x="2866925" y="944808"/>
                </a:cubicBezTo>
                <a:cubicBezTo>
                  <a:pt x="2635858" y="993598"/>
                  <a:pt x="2511881" y="875584"/>
                  <a:pt x="2190983" y="944808"/>
                </a:cubicBezTo>
                <a:cubicBezTo>
                  <a:pt x="1870085" y="1014032"/>
                  <a:pt x="1852869" y="943996"/>
                  <a:pt x="1701508" y="944808"/>
                </a:cubicBezTo>
                <a:cubicBezTo>
                  <a:pt x="1550147" y="945620"/>
                  <a:pt x="1405194" y="920052"/>
                  <a:pt x="1118800" y="944808"/>
                </a:cubicBezTo>
                <a:cubicBezTo>
                  <a:pt x="832406" y="969564"/>
                  <a:pt x="556689" y="829336"/>
                  <a:pt x="0" y="944808"/>
                </a:cubicBezTo>
                <a:cubicBezTo>
                  <a:pt x="-47866" y="761960"/>
                  <a:pt x="21522" y="675174"/>
                  <a:pt x="0" y="472404"/>
                </a:cubicBezTo>
                <a:cubicBezTo>
                  <a:pt x="-21522" y="269634"/>
                  <a:pt x="33196" y="209248"/>
                  <a:pt x="0" y="0"/>
                </a:cubicBezTo>
                <a:close/>
              </a:path>
            </a:pathLst>
          </a:custGeom>
          <a:solidFill>
            <a:srgbClr val="F6F5EF"/>
          </a:solidFill>
          <a:ln w="317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50" b="0" i="0" u="none" strike="noStrike" kern="1200" cap="none" spc="0" normalizeH="0" baseline="0" noProof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9. Training and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5621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DATASET AND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1524000"/>
            <a:ext cx="85852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Most of the work uses 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5k-play dataset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3,000 training, 1,000 validation and 1,000 test plays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, stratified by play length and shared by every 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4638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7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LOSS VS.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4000" y="24257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Metric: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masked RMSE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in yards.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composite loss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with contributions from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RMSE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+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FDE </a:t>
            </a:r>
            <a:r>
              <a:rPr lang="en-US" sz="1400" dirty="0">
                <a:solidFill>
                  <a:srgbClr val="121417"/>
                </a:solidFill>
                <a:latin typeface="Cascadia Code SemiLight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inal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isplacement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rror</a:t>
            </a:r>
            <a:r>
              <a:rPr lang="en-US" sz="1400" dirty="0">
                <a:solidFill>
                  <a:srgbClr val="121417"/>
                </a:solidFill>
                <a:latin typeface="Cascadia Code SemiLight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last valid frame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) +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jerk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, which offsets the one-shot decoder's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lack of continuity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9690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7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STARTING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4000" y="5930900"/>
            <a:ext cx="8585200" cy="622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Batch size 8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,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hidden_dim 64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,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no global features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,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1 GAT layer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,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regressor width 256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→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test RMSE 1.032 yards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— the reference point the next chapter improves on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615743ED-82EF-A206-EC13-4C0FD3531B3E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1401EC7F-004F-1956-7856-B081C0F48C96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CF3B10-671C-7E73-177D-E670C9998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D83341D-6859-C0A2-D8FB-2A8C579D9586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-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     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Big Data Analytics and Text Mining</a:t>
            </a:r>
            <a:r>
              <a:rPr kumimoji="0" lang="en-US" sz="1200" b="1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	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D7D392-EA72-7395-937F-6736C96D2C5C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   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Ponzuoli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Giovanni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	    -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>
                  <a:alpha val="50000"/>
                </a:srgbClr>
              </a:solidFill>
              <a:effectLst/>
              <a:uLnTx/>
              <a:uFillTx/>
              <a:latin typeface="Cascadia Code ExtraLight" panose="020B0609020000020004" pitchFamily="49" charset="0"/>
              <a:ea typeface="+mn-ea"/>
              <a:cs typeface="Cascadia Code Extra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AB9ED-BAC4-338C-E847-1379A43CE48A}"/>
              </a:ext>
            </a:extLst>
          </p:cNvPr>
          <p:cNvSpPr txBox="1"/>
          <p:nvPr/>
        </p:nvSpPr>
        <p:spPr>
          <a:xfrm>
            <a:off x="3827527" y="3583502"/>
            <a:ext cx="739648" cy="13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00" b="1" i="0" u="none" strike="noStrike" kern="1200" cap="none" spc="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Loss =</a:t>
            </a:r>
            <a:endParaRPr kumimoji="0" lang="it-IT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8" name="Loss anatomy" descr="loss_anatom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246" y="3594952"/>
            <a:ext cx="4052479" cy="9132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4E69CD-1F15-6E1D-D7D8-AD0CFE16C17D}"/>
              </a:ext>
            </a:extLst>
          </p:cNvPr>
          <p:cNvSpPr txBox="1"/>
          <p:nvPr/>
        </p:nvSpPr>
        <p:spPr>
          <a:xfrm>
            <a:off x="4488232" y="3577740"/>
            <a:ext cx="157886" cy="13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00" b="1" i="0" u="none" strike="noStrike" kern="1200" cap="none" spc="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+</a:t>
            </a:r>
            <a:endParaRPr kumimoji="0" lang="it-IT" sz="1450" b="0" i="0" u="none" strike="noStrike" kern="1200" cap="none" spc="0" normalizeH="0" baseline="0" noProof="0" dirty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23D7B4-45BC-DD9B-E9A3-CFA2335B72A1}"/>
              </a:ext>
            </a:extLst>
          </p:cNvPr>
          <p:cNvSpPr txBox="1"/>
          <p:nvPr/>
        </p:nvSpPr>
        <p:spPr>
          <a:xfrm>
            <a:off x="6168803" y="3577740"/>
            <a:ext cx="908688" cy="13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00" b="1" i="0" u="none" strike="noStrike" kern="1200" cap="none" spc="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+</a:t>
            </a:r>
            <a:endParaRPr kumimoji="0" lang="it-IT" sz="1450" b="0" i="0" u="none" strike="noStrike" kern="1200" cap="none" spc="0" normalizeH="0" baseline="0" noProof="0" dirty="0">
              <a:ln>
                <a:noFill/>
              </a:ln>
              <a:solidFill>
                <a:srgbClr val="F5F3E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27" name="TextBox 5"/>
          <p:cNvSpPr txBox="1"/>
          <p:nvPr/>
        </p:nvSpPr>
        <p:spPr>
          <a:xfrm>
            <a:off x="762000" y="4762500"/>
            <a:ext cx="1905000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OPTIMIZER AND SCHEDULE</a:t>
            </a:r>
          </a:p>
        </p:txBody>
      </p:sp>
      <p:sp>
        <p:nvSpPr>
          <p:cNvPr id="3028" name="TextBox 6"/>
          <p:cNvSpPr txBox="1"/>
          <p:nvPr/>
        </p:nvSpPr>
        <p:spPr>
          <a:xfrm>
            <a:off x="2794000" y="47244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AdamW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at 2e-3 with gradient clipping 1.0;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ReduceLROnPlateau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halves the LR after 6 epochs without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1%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gain (9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halvings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in the final model); early stopping never fired, so all runs used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100 epochs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and the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best checkpoint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is tested</a:t>
            </a:r>
          </a:p>
        </p:txBody>
      </p:sp>
      <p:cxnSp>
        <p:nvCxnSpPr>
          <p:cNvPr id="3029" name="Connector 7"/>
          <p:cNvCxnSpPr/>
          <p:nvPr/>
        </p:nvCxnSpPr>
        <p:spPr>
          <a:xfrm>
            <a:off x="812800" y="22860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0" name="Connector 7"/>
          <p:cNvCxnSpPr/>
          <p:nvPr/>
        </p:nvCxnSpPr>
        <p:spPr>
          <a:xfrm>
            <a:off x="812800" y="45847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1" name="Connector 7"/>
          <p:cNvCxnSpPr/>
          <p:nvPr/>
        </p:nvCxnSpPr>
        <p:spPr>
          <a:xfrm>
            <a:off x="812800" y="57912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1E40342B-032E-950B-0E39-D72974C0F9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cxnSp>
        <p:nvCxnSpPr>
          <p:cNvPr id="8" name="Connector 7"/>
          <p:cNvCxnSpPr/>
          <p:nvPr/>
        </p:nvCxnSpPr>
        <p:spPr>
          <a:xfrm>
            <a:off x="812800" y="39878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sep A"/>
          <p:cNvCxnSpPr/>
          <p:nvPr/>
        </p:nvCxnSpPr>
        <p:spPr>
          <a:xfrm>
            <a:off x="812800" y="26543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121417"/>
                </a:solidFill>
                <a:latin typeface="Cascadia Code SemiBold"/>
              </a:rPr>
              <a:t>10. Sequential Hyperparameter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895600"/>
            <a:ext cx="1905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002060"/>
                </a:solidFill>
                <a:latin typeface="Cascadia Code SemiBold"/>
              </a:rPr>
              <a:t>GREEDY SEARCH</a:t>
            </a:r>
          </a:p>
        </p:txBody>
      </p:sp>
      <p:sp>
        <p:nvSpPr>
          <p:cNvPr id="910" name="label ablations"/>
          <p:cNvSpPr txBox="1"/>
          <p:nvPr/>
        </p:nvSpPr>
        <p:spPr>
          <a:xfrm>
            <a:off x="762000" y="1562100"/>
            <a:ext cx="1905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002060"/>
                </a:solidFill>
                <a:latin typeface="Cascadia Code SemiBold"/>
              </a:rPr>
              <a:t>ABLATIONS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28575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Light"/>
              </a:rPr>
              <a:t>Instead of a full grid the search is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greedy and coordinate-wise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: each stage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fixes the previous stage's winner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and varies a single axis, so every new run changes exactly one thing and its effect stays attributable</a:t>
            </a:r>
            <a:endParaRPr lang="it-IT" sz="1400" b="0" dirty="0">
              <a:solidFill>
                <a:srgbClr val="121417"/>
              </a:solidFill>
              <a:latin typeface="Cascadia Code SemiLight"/>
            </a:endParaRPr>
          </a:p>
        </p:txBody>
      </p:sp>
      <p:sp>
        <p:nvSpPr>
          <p:cNvPr id="911" name="text ablations"/>
          <p:cNvSpPr txBox="1"/>
          <p:nvPr/>
        </p:nvSpPr>
        <p:spPr>
          <a:xfrm>
            <a:off x="2794000" y="1524000"/>
            <a:ext cx="86360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sz="1400" b="0" dirty="0">
                <a:solidFill>
                  <a:srgbClr val="121417"/>
                </a:solidFill>
                <a:latin typeface="Cascadia Code SemiLight"/>
              </a:rPr>
              <a:t>Five parameters are ablated one at a time around a </a:t>
            </a:r>
            <a:r>
              <a:rPr lang="en-US" sz="1400" b="1" dirty="0">
                <a:solidFill>
                  <a:srgbClr val="121417"/>
                </a:solidFill>
                <a:latin typeface="Cascadia Code SemiBold"/>
              </a:rPr>
              <a:t>baseline</a:t>
            </a:r>
            <a:r>
              <a:rPr lang="en-US" sz="1400" b="0" dirty="0">
                <a:solidFill>
                  <a:srgbClr val="121417"/>
                </a:solidFill>
                <a:latin typeface="Cascadia Code SemiLight"/>
              </a:rPr>
              <a:t>: presence or absence of </a:t>
            </a:r>
            <a:r>
              <a:rPr lang="en-US" sz="1400" b="1" dirty="0">
                <a:solidFill>
                  <a:srgbClr val="121417"/>
                </a:solidFill>
                <a:latin typeface="Cascadia Code SemiBold"/>
              </a:rPr>
              <a:t>global features</a:t>
            </a:r>
            <a:r>
              <a:rPr lang="en-US" sz="1400" dirty="0">
                <a:solidFill>
                  <a:srgbClr val="121417"/>
                </a:solidFill>
                <a:latin typeface="Cascadia Code SemiLight"/>
              </a:rPr>
              <a:t>, </a:t>
            </a:r>
            <a:r>
              <a:rPr lang="en-US" sz="1400" b="1" dirty="0">
                <a:solidFill>
                  <a:srgbClr val="121417"/>
                </a:solidFill>
                <a:latin typeface="Cascadia Code SemiBold"/>
              </a:rPr>
              <a:t>batch size</a:t>
            </a:r>
            <a:r>
              <a:rPr lang="en-US" sz="1400" dirty="0">
                <a:solidFill>
                  <a:srgbClr val="121417"/>
                </a:solidFill>
                <a:latin typeface="Cascadia Code SemiLight"/>
              </a:rPr>
              <a:t>, </a:t>
            </a:r>
            <a:r>
              <a:rPr lang="en-US" sz="1400" b="1" dirty="0">
                <a:solidFill>
                  <a:srgbClr val="121417"/>
                </a:solidFill>
                <a:latin typeface="Cascadia Code SemiBold"/>
              </a:rPr>
              <a:t>hidden dimension</a:t>
            </a:r>
            <a:r>
              <a:rPr lang="en-US" sz="1400" dirty="0">
                <a:solidFill>
                  <a:srgbClr val="121417"/>
                </a:solidFill>
                <a:latin typeface="Cascadia Code SemiLight"/>
              </a:rPr>
              <a:t>, </a:t>
            </a:r>
            <a:r>
              <a:rPr lang="en-US" sz="1400" b="1" dirty="0">
                <a:solidFill>
                  <a:srgbClr val="121417"/>
                </a:solidFill>
                <a:latin typeface="Cascadia Code SemiBold"/>
              </a:rPr>
              <a:t>regressor width</a:t>
            </a:r>
            <a:r>
              <a:rPr lang="en-US" sz="1400" b="0" dirty="0">
                <a:solidFill>
                  <a:srgbClr val="121417"/>
                </a:solidFill>
                <a:latin typeface="Cascadia Code SemiLight"/>
              </a:rPr>
              <a:t> and number of </a:t>
            </a:r>
            <a:r>
              <a:rPr lang="en-US" sz="1400" b="1" dirty="0">
                <a:solidFill>
                  <a:srgbClr val="121417"/>
                </a:solidFill>
                <a:latin typeface="Cascadia Code SemiBold"/>
              </a:rPr>
              <a:t>GAT </a:t>
            </a:r>
            <a:r>
              <a:rPr lang="en-US" sz="1400" dirty="0">
                <a:solidFill>
                  <a:srgbClr val="121417"/>
                </a:solidFill>
                <a:latin typeface="Cascadia Code SemiBold"/>
              </a:rPr>
              <a:t>layers</a:t>
            </a:r>
            <a:r>
              <a:rPr lang="en-US" sz="1400" dirty="0">
                <a:solidFill>
                  <a:srgbClr val="121417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: a final study </a:t>
            </a:r>
            <a:r>
              <a:rPr lang="en-US" sz="1400" dirty="0">
                <a:solidFill>
                  <a:srgbClr val="121417"/>
                </a:solidFill>
                <a:latin typeface="Cascadia Code SemiLight"/>
              </a:rPr>
              <a:t>then repeats the chosen configuration on </a:t>
            </a:r>
            <a:r>
              <a:rPr lang="en-US" sz="1400" dirty="0">
                <a:solidFill>
                  <a:srgbClr val="121417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larger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29200"/>
            <a:ext cx="1905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FF0000"/>
                </a:solidFill>
                <a:latin typeface="Cascadia Code SemiBold"/>
              </a:rPr>
              <a:t>THE RUBRIC</a:t>
            </a:r>
          </a:p>
        </p:txBody>
      </p:sp>
      <p:sp>
        <p:nvSpPr>
          <p:cNvPr id="900" name="label progression"/>
          <p:cNvSpPr txBox="1"/>
          <p:nvPr/>
        </p:nvSpPr>
        <p:spPr>
          <a:xfrm>
            <a:off x="762000" y="4276725"/>
            <a:ext cx="1905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FF0000"/>
                </a:solidFill>
                <a:latin typeface="Cascadia Code SemiBold"/>
              </a:rPr>
              <a:t>PROGRESSION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4000" y="49911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en-US" sz="1400" b="0" dirty="0">
                <a:solidFill>
                  <a:srgbClr val="121417"/>
                </a:solidFill>
                <a:latin typeface="Cascadia Code SemiLight"/>
              </a:rPr>
              <a:t>Every stage is judged on the same rubric — </a:t>
            </a:r>
            <a:r>
              <a:rPr lang="en-US" sz="1400" b="1" dirty="0">
                <a:solidFill>
                  <a:srgbClr val="121417"/>
                </a:solidFill>
                <a:latin typeface="Cascadia Code SemiBold"/>
              </a:rPr>
              <a:t>tradeoffs</a:t>
            </a:r>
            <a:r>
              <a:rPr lang="en-US" sz="1400" b="0" dirty="0">
                <a:solidFill>
                  <a:srgbClr val="121417"/>
                </a:solidFill>
                <a:latin typeface="Cascadia Code SemiLight"/>
              </a:rPr>
              <a:t>, </a:t>
            </a:r>
            <a:r>
              <a:rPr lang="en-US" sz="1400" b="1" dirty="0">
                <a:solidFill>
                  <a:srgbClr val="121417"/>
                </a:solidFill>
                <a:latin typeface="Cascadia Code SemiBold"/>
              </a:rPr>
              <a:t>training time</a:t>
            </a:r>
            <a:r>
              <a:rPr lang="en-US" sz="1400" b="0" dirty="0">
                <a:solidFill>
                  <a:srgbClr val="121417"/>
                </a:solidFill>
                <a:latin typeface="Cascadia Code SemiLight"/>
              </a:rPr>
              <a:t>, </a:t>
            </a:r>
            <a:r>
              <a:rPr lang="en-US" sz="1400" b="1" dirty="0">
                <a:solidFill>
                  <a:srgbClr val="121417"/>
                </a:solidFill>
                <a:latin typeface="Cascadia Code SemiBold"/>
              </a:rPr>
              <a:t>parameter count</a:t>
            </a:r>
            <a:r>
              <a:rPr lang="en-US" sz="1400" b="0" dirty="0">
                <a:solidFill>
                  <a:srgbClr val="121417"/>
                </a:solidFill>
                <a:latin typeface="Cascadia Code SemiLight"/>
              </a:rPr>
              <a:t> and </a:t>
            </a:r>
            <a:r>
              <a:rPr lang="en-US" sz="1400" b="1" dirty="0">
                <a:solidFill>
                  <a:srgbClr val="121417"/>
                </a:solidFill>
                <a:latin typeface="Cascadia Code SemiBold"/>
              </a:rPr>
              <a:t>result</a:t>
            </a:r>
            <a:r>
              <a:rPr lang="en-US" sz="1400" b="0" dirty="0">
                <a:solidFill>
                  <a:srgbClr val="121417"/>
                </a:solidFill>
                <a:latin typeface="Cascadia Code SemiLight"/>
              </a:rPr>
              <a:t> — because the goal is the </a:t>
            </a:r>
            <a:r>
              <a:rPr lang="en-US" sz="1400" b="1" dirty="0">
                <a:solidFill>
                  <a:srgbClr val="121417"/>
                </a:solidFill>
                <a:latin typeface="Cascadia Code SemiBold"/>
              </a:rPr>
              <a:t>smallest, fastest model</a:t>
            </a:r>
            <a:r>
              <a:rPr lang="en-US" sz="1400" b="0" dirty="0">
                <a:solidFill>
                  <a:srgbClr val="121417"/>
                </a:solidFill>
                <a:latin typeface="Cascadia Code SemiLight"/>
              </a:rPr>
              <a:t> that does not sacrifice accuracy, not simply the lowest error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2800" y="47879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0">
            <a:extLst>
              <a:ext uri="{FF2B5EF4-FFF2-40B4-BE49-F238E27FC236}">
                <a16:creationId xmlns:a16="http://schemas.microsoft.com/office/drawing/2014/main" id="{CA86ED0B-8F52-8A9D-4108-3243D7B00A9F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D5F9F02A-B88D-13C0-AA1C-0F3E0A25FCE9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003268"/>
                </a:solidFill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74614D-4C4B-248C-5A01-CB913F74E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DB0B8A-49A5-6704-CE3C-E046382F554E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65"/>
              </a:lnSpc>
            </a:pPr>
            <a:r>
              <a:rPr lang="en-US" sz="1200" kern="0" spc="75" dirty="0">
                <a:solidFill>
                  <a:srgbClr val="003268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-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Big Data Analytics and Text Mining</a:t>
            </a:r>
            <a:r>
              <a:rPr lang="en-US" sz="1200" b="1" kern="0" spc="75" dirty="0">
                <a:solidFill>
                  <a:srgbClr val="003268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AFB3DE-3B9D-4D54-6D87-770B21DCBE29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1200" kern="0" spc="75" dirty="0">
                <a:solidFill>
                  <a:srgbClr val="003268"/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Ponzuoli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Giovanni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	    - </a:t>
            </a:r>
            <a:endParaRPr lang="en-US" sz="1200" dirty="0">
              <a:solidFill>
                <a:srgbClr val="003268">
                  <a:alpha val="50000"/>
                </a:srgbClr>
              </a:solidFill>
              <a:latin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901" name="stage 1"/>
          <p:cNvSpPr/>
          <p:nvPr/>
        </p:nvSpPr>
        <p:spPr>
          <a:xfrm>
            <a:off x="2794000" y="4191000"/>
            <a:ext cx="1524000" cy="393700"/>
          </a:xfrm>
          <a:prstGeom prst="rect">
            <a:avLst/>
          </a:prstGeom>
          <a:solidFill>
            <a:srgbClr val="EFEDE4"/>
          </a:solidFill>
          <a:ln w="12700">
            <a:solidFill>
              <a:srgbClr val="002060"/>
            </a:solidFill>
          </a:ln>
          <a:effectLst/>
        </p:spPr>
        <p:txBody>
          <a:bodyPr wrap="square" lIns="50800" tIns="12700" rIns="50800" bIns="12700" rtlCol="0" anchor="ctr"/>
          <a:lstStyle/>
          <a:p>
            <a:pPr algn="ctr">
              <a:lnSpc>
                <a:spcPct val="110000"/>
              </a:lnSpc>
            </a:pPr>
            <a:r>
              <a:rPr sz="1050" b="0" dirty="0">
                <a:solidFill>
                  <a:srgbClr val="8A8672"/>
                </a:solidFill>
                <a:latin typeface="Cascadia Code SemiLight"/>
              </a:rPr>
              <a:t>global features</a:t>
            </a:r>
          </a:p>
          <a:p>
            <a:pPr algn="ctr">
              <a:lnSpc>
                <a:spcPct val="110000"/>
              </a:lnSpc>
            </a:pPr>
            <a:r>
              <a:rPr lang="it-IT" sz="1300" b="1" dirty="0">
                <a:solidFill>
                  <a:srgbClr val="002060"/>
                </a:solidFill>
                <a:latin typeface="Cascadia Code SemiBold"/>
              </a:rPr>
              <a:t>n</a:t>
            </a:r>
            <a:r>
              <a:rPr sz="1300" b="1" dirty="0">
                <a:solidFill>
                  <a:srgbClr val="002060"/>
                </a:solidFill>
                <a:latin typeface="Cascadia Code SemiBold"/>
              </a:rPr>
              <a:t>one</a:t>
            </a:r>
            <a:r>
              <a:rPr lang="it-IT" sz="1300" b="1" dirty="0">
                <a:solidFill>
                  <a:srgbClr val="002060"/>
                </a:solidFill>
                <a:latin typeface="Cascadia Code SemiBold"/>
              </a:rPr>
              <a:t>,</a:t>
            </a:r>
            <a:r>
              <a:rPr sz="1300" b="1" dirty="0">
                <a:solidFill>
                  <a:srgbClr val="002060"/>
                </a:solidFill>
                <a:latin typeface="Cascadia Code SemiBold"/>
              </a:rPr>
              <a:t>all</a:t>
            </a:r>
          </a:p>
        </p:txBody>
      </p:sp>
      <p:sp>
        <p:nvSpPr>
          <p:cNvPr id="902" name="stage arrow 1"/>
          <p:cNvSpPr txBox="1"/>
          <p:nvPr/>
        </p:nvSpPr>
        <p:spPr>
          <a:xfrm>
            <a:off x="4318000" y="4292600"/>
            <a:ext cx="2413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8A8672"/>
                </a:solidFill>
                <a:latin typeface="Cascadia Code SemiBold"/>
              </a:rPr>
              <a:t>→</a:t>
            </a:r>
          </a:p>
        </p:txBody>
      </p:sp>
      <p:sp>
        <p:nvSpPr>
          <p:cNvPr id="903" name="stage 2"/>
          <p:cNvSpPr/>
          <p:nvPr/>
        </p:nvSpPr>
        <p:spPr>
          <a:xfrm>
            <a:off x="4559300" y="4191000"/>
            <a:ext cx="1524000" cy="393700"/>
          </a:xfrm>
          <a:prstGeom prst="rect">
            <a:avLst/>
          </a:prstGeom>
          <a:solidFill>
            <a:srgbClr val="EFEDE4"/>
          </a:solidFill>
          <a:ln w="12700">
            <a:solidFill>
              <a:srgbClr val="002060"/>
            </a:solidFill>
          </a:ln>
          <a:effectLst/>
        </p:spPr>
        <p:txBody>
          <a:bodyPr wrap="square" lIns="50800" tIns="12700" rIns="50800" bIns="12700" rtlCol="0" anchor="ctr"/>
          <a:lstStyle/>
          <a:p>
            <a:pPr algn="ctr">
              <a:lnSpc>
                <a:spcPct val="110000"/>
              </a:lnSpc>
            </a:pPr>
            <a:r>
              <a:rPr sz="1050" b="0" dirty="0">
                <a:solidFill>
                  <a:srgbClr val="8A8672"/>
                </a:solidFill>
                <a:latin typeface="Cascadia Code SemiLight"/>
              </a:rPr>
              <a:t>batch size</a:t>
            </a:r>
          </a:p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002060"/>
                </a:solidFill>
                <a:latin typeface="Cascadia Code SemiBold"/>
              </a:rPr>
              <a:t>1</a:t>
            </a:r>
            <a:r>
              <a:rPr lang="it-IT" sz="1300" b="1" dirty="0">
                <a:solidFill>
                  <a:srgbClr val="002060"/>
                </a:solidFill>
                <a:latin typeface="Cascadia Code SemiBold"/>
              </a:rPr>
              <a:t>,8,</a:t>
            </a:r>
            <a:r>
              <a:rPr sz="1300" b="1" dirty="0">
                <a:solidFill>
                  <a:srgbClr val="002060"/>
                </a:solidFill>
                <a:latin typeface="Cascadia Code SemiBold"/>
              </a:rPr>
              <a:t>64</a:t>
            </a:r>
          </a:p>
        </p:txBody>
      </p:sp>
      <p:sp>
        <p:nvSpPr>
          <p:cNvPr id="904" name="stage arrow 2"/>
          <p:cNvSpPr txBox="1"/>
          <p:nvPr/>
        </p:nvSpPr>
        <p:spPr>
          <a:xfrm>
            <a:off x="6083300" y="4292600"/>
            <a:ext cx="2413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8A8672"/>
                </a:solidFill>
                <a:latin typeface="Cascadia Code SemiBold"/>
              </a:rPr>
              <a:t>→</a:t>
            </a:r>
          </a:p>
        </p:txBody>
      </p:sp>
      <p:sp>
        <p:nvSpPr>
          <p:cNvPr id="905" name="stage 3"/>
          <p:cNvSpPr/>
          <p:nvPr/>
        </p:nvSpPr>
        <p:spPr>
          <a:xfrm>
            <a:off x="6324600" y="4191000"/>
            <a:ext cx="1524000" cy="393700"/>
          </a:xfrm>
          <a:prstGeom prst="rect">
            <a:avLst/>
          </a:prstGeom>
          <a:solidFill>
            <a:srgbClr val="EFEDE4"/>
          </a:solidFill>
          <a:ln w="12700">
            <a:solidFill>
              <a:srgbClr val="002060"/>
            </a:solidFill>
          </a:ln>
          <a:effectLst/>
        </p:spPr>
        <p:txBody>
          <a:bodyPr wrap="square" lIns="50800" tIns="12700" rIns="50800" bIns="12700" rtlCol="0" anchor="ctr"/>
          <a:lstStyle/>
          <a:p>
            <a:pPr algn="ctr">
              <a:lnSpc>
                <a:spcPct val="110000"/>
              </a:lnSpc>
            </a:pPr>
            <a:r>
              <a:rPr sz="1050" b="0" dirty="0">
                <a:solidFill>
                  <a:srgbClr val="8A8672"/>
                </a:solidFill>
                <a:latin typeface="Cascadia Code SemiLight"/>
              </a:rPr>
              <a:t>hidden dimension</a:t>
            </a:r>
          </a:p>
          <a:p>
            <a:pPr algn="ctr">
              <a:lnSpc>
                <a:spcPct val="110000"/>
              </a:lnSpc>
            </a:pPr>
            <a:r>
              <a:rPr lang="it-IT" sz="1300" b="1" dirty="0">
                <a:solidFill>
                  <a:srgbClr val="002060"/>
                </a:solidFill>
                <a:latin typeface="Cascadia Code SemiBold"/>
              </a:rPr>
              <a:t>8,</a:t>
            </a:r>
            <a:r>
              <a:rPr sz="1300" b="1" dirty="0">
                <a:solidFill>
                  <a:srgbClr val="002060"/>
                </a:solidFill>
                <a:latin typeface="Cascadia Code SemiBold"/>
              </a:rPr>
              <a:t>64</a:t>
            </a:r>
            <a:r>
              <a:rPr lang="it-IT" sz="1300" b="1" dirty="0">
                <a:solidFill>
                  <a:srgbClr val="002060"/>
                </a:solidFill>
                <a:latin typeface="Cascadia Code SemiBold"/>
              </a:rPr>
              <a:t>,</a:t>
            </a:r>
            <a:r>
              <a:rPr sz="1300" b="1" dirty="0">
                <a:solidFill>
                  <a:srgbClr val="002060"/>
                </a:solidFill>
                <a:latin typeface="Cascadia Code SemiBold"/>
              </a:rPr>
              <a:t>256</a:t>
            </a:r>
          </a:p>
        </p:txBody>
      </p:sp>
      <p:sp>
        <p:nvSpPr>
          <p:cNvPr id="906" name="stage arrow 3"/>
          <p:cNvSpPr txBox="1"/>
          <p:nvPr/>
        </p:nvSpPr>
        <p:spPr>
          <a:xfrm>
            <a:off x="7848600" y="4292600"/>
            <a:ext cx="2413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8A8672"/>
                </a:solidFill>
                <a:latin typeface="Cascadia Code SemiBold"/>
              </a:rPr>
              <a:t>→</a:t>
            </a:r>
          </a:p>
        </p:txBody>
      </p:sp>
      <p:sp>
        <p:nvSpPr>
          <p:cNvPr id="907" name="stage 4"/>
          <p:cNvSpPr/>
          <p:nvPr/>
        </p:nvSpPr>
        <p:spPr>
          <a:xfrm>
            <a:off x="8089900" y="4191000"/>
            <a:ext cx="1524000" cy="393700"/>
          </a:xfrm>
          <a:prstGeom prst="rect">
            <a:avLst/>
          </a:prstGeom>
          <a:solidFill>
            <a:srgbClr val="EFEDE4"/>
          </a:solidFill>
          <a:ln w="12700">
            <a:solidFill>
              <a:srgbClr val="002060"/>
            </a:solidFill>
          </a:ln>
          <a:effectLst/>
        </p:spPr>
        <p:txBody>
          <a:bodyPr wrap="square" lIns="50800" tIns="12700" rIns="50800" bIns="12700" rtlCol="0" anchor="ctr"/>
          <a:lstStyle/>
          <a:p>
            <a:pPr algn="ctr">
              <a:lnSpc>
                <a:spcPct val="110000"/>
              </a:lnSpc>
            </a:pPr>
            <a:r>
              <a:rPr sz="1050" b="0" dirty="0">
                <a:solidFill>
                  <a:srgbClr val="8A8672"/>
                </a:solidFill>
                <a:latin typeface="Cascadia Code SemiLight"/>
              </a:rPr>
              <a:t>regressor width</a:t>
            </a:r>
          </a:p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002060"/>
                </a:solidFill>
                <a:latin typeface="Cascadia Code SemiBold"/>
              </a:rPr>
              <a:t>64</a:t>
            </a:r>
            <a:r>
              <a:rPr lang="it-IT" sz="1300" b="1" dirty="0">
                <a:solidFill>
                  <a:srgbClr val="002060"/>
                </a:solidFill>
                <a:latin typeface="Cascadia Code SemiBold"/>
              </a:rPr>
              <a:t>,256,</a:t>
            </a:r>
            <a:r>
              <a:rPr sz="1300" b="1" dirty="0">
                <a:solidFill>
                  <a:srgbClr val="002060"/>
                </a:solidFill>
                <a:latin typeface="Cascadia Code SemiBold"/>
              </a:rPr>
              <a:t>512</a:t>
            </a:r>
          </a:p>
        </p:txBody>
      </p:sp>
      <p:sp>
        <p:nvSpPr>
          <p:cNvPr id="908" name="stage arrow 4"/>
          <p:cNvSpPr txBox="1"/>
          <p:nvPr/>
        </p:nvSpPr>
        <p:spPr>
          <a:xfrm>
            <a:off x="9613900" y="4292600"/>
            <a:ext cx="2413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8A8672"/>
                </a:solidFill>
                <a:latin typeface="Cascadia Code SemiBold"/>
              </a:rPr>
              <a:t>→</a:t>
            </a:r>
          </a:p>
        </p:txBody>
      </p:sp>
      <p:sp>
        <p:nvSpPr>
          <p:cNvPr id="909" name="stage 5"/>
          <p:cNvSpPr/>
          <p:nvPr/>
        </p:nvSpPr>
        <p:spPr>
          <a:xfrm>
            <a:off x="9855200" y="4191000"/>
            <a:ext cx="1524000" cy="393700"/>
          </a:xfrm>
          <a:prstGeom prst="rect">
            <a:avLst/>
          </a:prstGeom>
          <a:solidFill>
            <a:srgbClr val="EFEDE4"/>
          </a:solidFill>
          <a:ln w="12700">
            <a:solidFill>
              <a:srgbClr val="002060"/>
            </a:solidFill>
          </a:ln>
          <a:effectLst/>
        </p:spPr>
        <p:txBody>
          <a:bodyPr wrap="square" lIns="50800" tIns="12700" rIns="50800" bIns="12700" rtlCol="0" anchor="ctr"/>
          <a:lstStyle/>
          <a:p>
            <a:pPr algn="ctr">
              <a:lnSpc>
                <a:spcPct val="110000"/>
              </a:lnSpc>
            </a:pPr>
            <a:r>
              <a:rPr sz="1050" b="0" dirty="0">
                <a:solidFill>
                  <a:srgbClr val="8A8672"/>
                </a:solidFill>
                <a:latin typeface="Cascadia Code SemiLight"/>
              </a:rPr>
              <a:t>GAT layers</a:t>
            </a:r>
          </a:p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002060"/>
                </a:solidFill>
                <a:latin typeface="Cascadia Code SemiBold"/>
              </a:rPr>
              <a:t>1</a:t>
            </a:r>
            <a:r>
              <a:rPr lang="it-IT" sz="1300" b="1" dirty="0">
                <a:solidFill>
                  <a:srgbClr val="002060"/>
                </a:solidFill>
                <a:latin typeface="Cascadia Code SemiBold"/>
              </a:rPr>
              <a:t>,</a:t>
            </a:r>
            <a:r>
              <a:rPr sz="1300" b="1" dirty="0">
                <a:solidFill>
                  <a:srgbClr val="002060"/>
                </a:solidFill>
                <a:latin typeface="Cascadia Code SemiBold"/>
              </a:rPr>
              <a:t>2</a:t>
            </a:r>
            <a:r>
              <a:rPr lang="it-IT" sz="1300" b="1" dirty="0">
                <a:solidFill>
                  <a:srgbClr val="002060"/>
                </a:solidFill>
                <a:latin typeface="Cascadia Code SemiBold"/>
              </a:rPr>
              <a:t>,</a:t>
            </a:r>
            <a:r>
              <a:rPr sz="1300" b="1" dirty="0">
                <a:solidFill>
                  <a:srgbClr val="002060"/>
                </a:solidFill>
                <a:latin typeface="Cascadia Code SemiBold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00B152AA-9C85-8BC3-D182-B8738628A6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4" name="TextBox 3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21417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11. Results — The Search, Run by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386003"/>
            <a:ext cx="105664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121417"/>
              </a:solidFill>
              <a:effectLst/>
              <a:uLnTx/>
              <a:uFillTx/>
              <a:latin typeface="Cascadia Code SemiLight"/>
              <a:ea typeface="+mn-ea"/>
              <a:cs typeface="+mn-cs"/>
            </a:endParaRPr>
          </a:p>
        </p:txBody>
      </p:sp>
      <p:pic>
        <p:nvPicPr>
          <p:cNvPr id="6" name="Picture 5" descr="result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334" y="1473200"/>
            <a:ext cx="8551332" cy="5130800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17D5A3FA-A144-58E6-2A52-14FD5D5D9FCE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443BE3FC-FB85-5421-DA6B-FCD144AFD708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A1B288-195C-2B2C-B87E-A63FDF719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38AA6E7-5D04-CD08-D8C4-11550B853024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-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Light" panose="020B0609020000020004" pitchFamily="49" charset="0"/>
                <a:ea typeface="+mn-ea"/>
                <a:cs typeface="Cascadia Code Light" panose="020B0609020000020004" pitchFamily="49" charset="0"/>
              </a:rPr>
              <a:t>     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Big Data Analytics and Text Mining</a:t>
            </a:r>
            <a:r>
              <a:rPr kumimoji="0" lang="en-US" sz="1200" b="1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	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3FDDB9-DC95-B54E-C37D-73C903C2363D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/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   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Ponzuoli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Giovanni</a:t>
            </a:r>
            <a:r>
              <a:rPr kumimoji="0" lang="en-US" sz="1200" b="0" i="0" u="none" strike="noStrike" kern="0" cap="none" spc="75" normalizeH="0" baseline="0" noProof="0" dirty="0">
                <a:ln>
                  <a:noFill/>
                </a:ln>
                <a:solidFill>
                  <a:srgbClr val="003268">
                    <a:alpha val="50000"/>
                  </a:srgbClr>
                </a:solidFill>
                <a:effectLst/>
                <a:uLnTx/>
                <a:uFillTx/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	    -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68">
                  <a:alpha val="50000"/>
                </a:srgbClr>
              </a:solidFill>
              <a:effectLst/>
              <a:uLnTx/>
              <a:uFillTx/>
              <a:latin typeface="Cascadia Code ExtraLight" panose="020B0609020000020004" pitchFamily="49" charset="0"/>
              <a:ea typeface="+mn-ea"/>
              <a:cs typeface="Cascadia Code ExtraLight" panose="020B0609020000020004" pitchFamily="49" charset="0"/>
            </a:endParaRPr>
          </a:p>
        </p:txBody>
      </p:sp>
      <p:sp>
        <p:nvSpPr>
          <p:cNvPr id="23" name="Inset label"/>
          <p:cNvSpPr txBox="1"/>
          <p:nvPr/>
        </p:nvSpPr>
        <p:spPr>
          <a:xfrm>
            <a:off x="8013122" y="3441700"/>
            <a:ext cx="337242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scadia Code SemiBold"/>
                <a:ea typeface="+mn-ea"/>
                <a:cs typeface="+mn-cs"/>
              </a:rPr>
              <a:t>TEST PLAY</a:t>
            </a:r>
          </a:p>
        </p:txBody>
      </p:sp>
      <p:sp>
        <p:nvSpPr>
          <p:cNvPr id="24" name="Inset subtitle"/>
          <p:cNvSpPr txBox="1"/>
          <p:nvPr/>
        </p:nvSpPr>
        <p:spPr>
          <a:xfrm>
            <a:off x="8013122" y="3594100"/>
            <a:ext cx="337242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predicted vs. real trajectories </a:t>
            </a:r>
          </a:p>
        </p:txBody>
      </p:sp>
      <p:pic>
        <p:nvPicPr>
          <p:cNvPr id="25" name="Prediction test play 1" descr="tp1.png"/>
          <p:cNvPicPr>
            <a:picLocks noChangeAspect="1"/>
          </p:cNvPicPr>
          <p:nvPr/>
        </p:nvPicPr>
        <p:blipFill>
          <a:blip r:embed="rId5"/>
          <a:srcRect l="5162"/>
          <a:stretch>
            <a:fillRect/>
          </a:stretch>
        </p:blipFill>
        <p:spPr>
          <a:xfrm>
            <a:off x="8013122" y="3810000"/>
            <a:ext cx="3372427" cy="1996558"/>
          </a:xfrm>
          <a:custGeom>
            <a:avLst/>
            <a:gdLst>
              <a:gd name="csX0" fmla="*/ 0 w 3372427"/>
              <a:gd name="csY0" fmla="*/ 0 h 1996558"/>
              <a:gd name="csX1" fmla="*/ 528347 w 3372427"/>
              <a:gd name="csY1" fmla="*/ 0 h 1996558"/>
              <a:gd name="csX2" fmla="*/ 1022970 w 3372427"/>
              <a:gd name="csY2" fmla="*/ 0 h 1996558"/>
              <a:gd name="csX3" fmla="*/ 1618765 w 3372427"/>
              <a:gd name="csY3" fmla="*/ 0 h 1996558"/>
              <a:gd name="csX4" fmla="*/ 2180836 w 3372427"/>
              <a:gd name="csY4" fmla="*/ 0 h 1996558"/>
              <a:gd name="csX5" fmla="*/ 2742907 w 3372427"/>
              <a:gd name="csY5" fmla="*/ 0 h 1996558"/>
              <a:gd name="csX6" fmla="*/ 3372427 w 3372427"/>
              <a:gd name="csY6" fmla="*/ 0 h 1996558"/>
              <a:gd name="csX7" fmla="*/ 3372427 w 3372427"/>
              <a:gd name="csY7" fmla="*/ 519105 h 1996558"/>
              <a:gd name="csX8" fmla="*/ 3372427 w 3372427"/>
              <a:gd name="csY8" fmla="*/ 978313 h 1996558"/>
              <a:gd name="csX9" fmla="*/ 3372427 w 3372427"/>
              <a:gd name="csY9" fmla="*/ 1497419 h 1996558"/>
              <a:gd name="csX10" fmla="*/ 3372427 w 3372427"/>
              <a:gd name="csY10" fmla="*/ 1996558 h 1996558"/>
              <a:gd name="csX11" fmla="*/ 2776632 w 3372427"/>
              <a:gd name="csY11" fmla="*/ 1996558 h 1996558"/>
              <a:gd name="csX12" fmla="*/ 2180836 w 3372427"/>
              <a:gd name="csY12" fmla="*/ 1996558 h 1996558"/>
              <a:gd name="csX13" fmla="*/ 1551316 w 3372427"/>
              <a:gd name="csY13" fmla="*/ 1996558 h 1996558"/>
              <a:gd name="csX14" fmla="*/ 1022970 w 3372427"/>
              <a:gd name="csY14" fmla="*/ 1996558 h 1996558"/>
              <a:gd name="csX15" fmla="*/ 0 w 3372427"/>
              <a:gd name="csY15" fmla="*/ 1996558 h 1996558"/>
              <a:gd name="csX16" fmla="*/ 0 w 3372427"/>
              <a:gd name="csY16" fmla="*/ 1537350 h 1996558"/>
              <a:gd name="csX17" fmla="*/ 0 w 3372427"/>
              <a:gd name="csY17" fmla="*/ 1038210 h 1996558"/>
              <a:gd name="csX18" fmla="*/ 0 w 3372427"/>
              <a:gd name="csY18" fmla="*/ 519105 h 1996558"/>
              <a:gd name="csX19" fmla="*/ 0 w 3372427"/>
              <a:gd name="csY19" fmla="*/ 0 h 1996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372427" h="1996558" fill="none" extrusionOk="0">
                <a:moveTo>
                  <a:pt x="0" y="0"/>
                </a:moveTo>
                <a:cubicBezTo>
                  <a:pt x="152852" y="-21622"/>
                  <a:pt x="351604" y="36662"/>
                  <a:pt x="528347" y="0"/>
                </a:cubicBezTo>
                <a:cubicBezTo>
                  <a:pt x="705090" y="-36662"/>
                  <a:pt x="871427" y="48941"/>
                  <a:pt x="1022970" y="0"/>
                </a:cubicBezTo>
                <a:cubicBezTo>
                  <a:pt x="1174513" y="-48941"/>
                  <a:pt x="1478004" y="46937"/>
                  <a:pt x="1618765" y="0"/>
                </a:cubicBezTo>
                <a:cubicBezTo>
                  <a:pt x="1759527" y="-46937"/>
                  <a:pt x="2036989" y="9012"/>
                  <a:pt x="2180836" y="0"/>
                </a:cubicBezTo>
                <a:cubicBezTo>
                  <a:pt x="2324683" y="-9012"/>
                  <a:pt x="2508763" y="22429"/>
                  <a:pt x="2742907" y="0"/>
                </a:cubicBezTo>
                <a:cubicBezTo>
                  <a:pt x="2977051" y="-22429"/>
                  <a:pt x="3087485" y="45265"/>
                  <a:pt x="3372427" y="0"/>
                </a:cubicBezTo>
                <a:cubicBezTo>
                  <a:pt x="3399089" y="135625"/>
                  <a:pt x="3346800" y="270872"/>
                  <a:pt x="3372427" y="519105"/>
                </a:cubicBezTo>
                <a:cubicBezTo>
                  <a:pt x="3398054" y="767339"/>
                  <a:pt x="3368685" y="783134"/>
                  <a:pt x="3372427" y="978313"/>
                </a:cubicBezTo>
                <a:cubicBezTo>
                  <a:pt x="3376169" y="1173492"/>
                  <a:pt x="3310901" y="1373459"/>
                  <a:pt x="3372427" y="1497419"/>
                </a:cubicBezTo>
                <a:cubicBezTo>
                  <a:pt x="3433953" y="1621379"/>
                  <a:pt x="3317989" y="1833973"/>
                  <a:pt x="3372427" y="1996558"/>
                </a:cubicBezTo>
                <a:cubicBezTo>
                  <a:pt x="3148671" y="2027331"/>
                  <a:pt x="3003778" y="1976884"/>
                  <a:pt x="2776632" y="1996558"/>
                </a:cubicBezTo>
                <a:cubicBezTo>
                  <a:pt x="2549486" y="2016232"/>
                  <a:pt x="2450460" y="1962786"/>
                  <a:pt x="2180836" y="1996558"/>
                </a:cubicBezTo>
                <a:cubicBezTo>
                  <a:pt x="1911212" y="2030330"/>
                  <a:pt x="1761777" y="1966858"/>
                  <a:pt x="1551316" y="1996558"/>
                </a:cubicBezTo>
                <a:cubicBezTo>
                  <a:pt x="1340855" y="2026258"/>
                  <a:pt x="1239618" y="1954413"/>
                  <a:pt x="1022970" y="1996558"/>
                </a:cubicBezTo>
                <a:cubicBezTo>
                  <a:pt x="806322" y="2038703"/>
                  <a:pt x="360598" y="1972079"/>
                  <a:pt x="0" y="1996558"/>
                </a:cubicBezTo>
                <a:cubicBezTo>
                  <a:pt x="-12910" y="1820995"/>
                  <a:pt x="35943" y="1715936"/>
                  <a:pt x="0" y="1537350"/>
                </a:cubicBezTo>
                <a:cubicBezTo>
                  <a:pt x="-35943" y="1358764"/>
                  <a:pt x="40608" y="1264909"/>
                  <a:pt x="0" y="1038210"/>
                </a:cubicBezTo>
                <a:cubicBezTo>
                  <a:pt x="-40608" y="811511"/>
                  <a:pt x="56662" y="630852"/>
                  <a:pt x="0" y="519105"/>
                </a:cubicBezTo>
                <a:cubicBezTo>
                  <a:pt x="-56662" y="407358"/>
                  <a:pt x="57212" y="232444"/>
                  <a:pt x="0" y="0"/>
                </a:cubicBezTo>
                <a:close/>
              </a:path>
              <a:path w="3372427" h="1996558" stroke="0" extrusionOk="0">
                <a:moveTo>
                  <a:pt x="0" y="0"/>
                </a:moveTo>
                <a:cubicBezTo>
                  <a:pt x="260672" y="-37468"/>
                  <a:pt x="273115" y="10324"/>
                  <a:pt x="528347" y="0"/>
                </a:cubicBezTo>
                <a:cubicBezTo>
                  <a:pt x="783579" y="-10324"/>
                  <a:pt x="800849" y="29415"/>
                  <a:pt x="989245" y="0"/>
                </a:cubicBezTo>
                <a:cubicBezTo>
                  <a:pt x="1177641" y="-29415"/>
                  <a:pt x="1333420" y="9423"/>
                  <a:pt x="1618765" y="0"/>
                </a:cubicBezTo>
                <a:cubicBezTo>
                  <a:pt x="1904110" y="-9423"/>
                  <a:pt x="1985249" y="38337"/>
                  <a:pt x="2147112" y="0"/>
                </a:cubicBezTo>
                <a:cubicBezTo>
                  <a:pt x="2308975" y="-38337"/>
                  <a:pt x="2540446" y="28441"/>
                  <a:pt x="2675459" y="0"/>
                </a:cubicBezTo>
                <a:cubicBezTo>
                  <a:pt x="2810472" y="-28441"/>
                  <a:pt x="3110803" y="38683"/>
                  <a:pt x="3372427" y="0"/>
                </a:cubicBezTo>
                <a:cubicBezTo>
                  <a:pt x="3400372" y="95620"/>
                  <a:pt x="3320476" y="267224"/>
                  <a:pt x="3372427" y="459208"/>
                </a:cubicBezTo>
                <a:cubicBezTo>
                  <a:pt x="3424378" y="651192"/>
                  <a:pt x="3340300" y="776051"/>
                  <a:pt x="3372427" y="958348"/>
                </a:cubicBezTo>
                <a:cubicBezTo>
                  <a:pt x="3404554" y="1140645"/>
                  <a:pt x="3318547" y="1318031"/>
                  <a:pt x="3372427" y="1417556"/>
                </a:cubicBezTo>
                <a:cubicBezTo>
                  <a:pt x="3426307" y="1517081"/>
                  <a:pt x="3341696" y="1711321"/>
                  <a:pt x="3372427" y="1996558"/>
                </a:cubicBezTo>
                <a:cubicBezTo>
                  <a:pt x="3126295" y="2034566"/>
                  <a:pt x="2946164" y="1979882"/>
                  <a:pt x="2810356" y="1996558"/>
                </a:cubicBezTo>
                <a:cubicBezTo>
                  <a:pt x="2674548" y="2013234"/>
                  <a:pt x="2470388" y="1989085"/>
                  <a:pt x="2282009" y="1996558"/>
                </a:cubicBezTo>
                <a:cubicBezTo>
                  <a:pt x="2093630" y="2004031"/>
                  <a:pt x="1943168" y="1972164"/>
                  <a:pt x="1652489" y="1996558"/>
                </a:cubicBezTo>
                <a:cubicBezTo>
                  <a:pt x="1361810" y="2020952"/>
                  <a:pt x="1331303" y="1923894"/>
                  <a:pt x="1022970" y="1996558"/>
                </a:cubicBezTo>
                <a:cubicBezTo>
                  <a:pt x="714637" y="2069222"/>
                  <a:pt x="689007" y="1986650"/>
                  <a:pt x="528347" y="1996558"/>
                </a:cubicBezTo>
                <a:cubicBezTo>
                  <a:pt x="367687" y="2006466"/>
                  <a:pt x="162221" y="1958107"/>
                  <a:pt x="0" y="1996558"/>
                </a:cubicBezTo>
                <a:cubicBezTo>
                  <a:pt x="-4836" y="1783552"/>
                  <a:pt x="14222" y="1578128"/>
                  <a:pt x="0" y="1457487"/>
                </a:cubicBezTo>
                <a:cubicBezTo>
                  <a:pt x="-14222" y="1336846"/>
                  <a:pt x="31833" y="1123656"/>
                  <a:pt x="0" y="1018245"/>
                </a:cubicBezTo>
                <a:cubicBezTo>
                  <a:pt x="-31833" y="912834"/>
                  <a:pt x="48471" y="742289"/>
                  <a:pt x="0" y="559036"/>
                </a:cubicBezTo>
                <a:cubicBezTo>
                  <a:pt x="-48471" y="375783"/>
                  <a:pt x="20598" y="188068"/>
                  <a:pt x="0" y="0"/>
                </a:cubicBezTo>
                <a:close/>
              </a:path>
            </a:pathLst>
          </a:custGeom>
          <a:solidFill>
            <a:srgbClr val="F5F3EC"/>
          </a:solidFill>
          <a:ln w="317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27" name="Inset legend"/>
          <p:cNvSpPr txBox="1"/>
          <p:nvPr/>
        </p:nvSpPr>
        <p:spPr>
          <a:xfrm>
            <a:off x="8013122" y="5853181"/>
            <a:ext cx="337242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dark: prediction</a:t>
            </a:r>
            <a:r>
              <a:rPr kumimoji="0" lang="it-IT" sz="900" b="0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s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 </a:t>
            </a:r>
            <a:r>
              <a:rPr lang="it-IT" sz="900" dirty="0">
                <a:solidFill>
                  <a:srgbClr val="8A8672"/>
                </a:solidFill>
                <a:latin typeface="Cascadia Code SemiLight"/>
              </a:rPr>
              <a:t>-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8A8672"/>
                </a:solidFill>
                <a:effectLst/>
                <a:uLnTx/>
                <a:uFillTx/>
                <a:latin typeface="Cascadia Code SemiLight"/>
                <a:ea typeface="+mn-ea"/>
                <a:cs typeface="+mn-cs"/>
              </a:rPr>
              <a:t>light: real paths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22272906-F542-1793-56B9-24B754E73A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l="19132" t="34876" r="19132" b="33281"/>
          <a:stretch>
            <a:fillRect/>
          </a:stretch>
        </p:blipFill>
        <p:spPr>
          <a:xfrm>
            <a:off x="0" y="284703"/>
            <a:ext cx="12192000" cy="628859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TextBox 4"/>
          <p:cNvSpPr txBox="1"/>
          <p:nvPr/>
        </p:nvSpPr>
        <p:spPr>
          <a:xfrm>
            <a:off x="0" y="774700"/>
            <a:ext cx="1219200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121417"/>
                </a:solidFill>
                <a:latin typeface="Cascadia Code SemiBold"/>
              </a:rPr>
              <a:t>12. Discussion and Conclusions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65400"/>
            <a:ext cx="190500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002060"/>
                </a:solidFill>
                <a:latin typeface="Cascadia Code SemiBold"/>
              </a:rPr>
              <a:t>COMPETITIVE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4000" y="2527300"/>
            <a:ext cx="8585200" cy="927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Light"/>
              </a:rPr>
              <a:t>The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winner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of the challenge scored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0.463 RMSE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on the hidden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test set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, which may well contain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more difficult plays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than my local split, so a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comparable value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on the local test could emerge as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good work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2800" y="36576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000" y="3898900"/>
            <a:ext cx="1905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FF0000"/>
                </a:solidFill>
                <a:latin typeface="Cascadia Code SemiBold"/>
              </a:rPr>
              <a:t>KNOWN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4000" y="3860800"/>
            <a:ext cx="8585200" cy="622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Light"/>
              </a:rPr>
              <a:t>Error is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highly uneven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across play types: under 0.02 yards² MSE on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structured routes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vs. over 2 yards² on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scrambles or broken plays</a:t>
            </a:r>
            <a:endParaRPr sz="1400" b="0" dirty="0">
              <a:solidFill>
                <a:srgbClr val="121417"/>
              </a:solidFill>
              <a:latin typeface="Cascadia Code SemiLight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12800" y="4686300"/>
            <a:ext cx="10566400" cy="0"/>
          </a:xfrm>
          <a:prstGeom prst="line">
            <a:avLst/>
          </a:prstGeom>
          <a:ln w="635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2000" y="4927600"/>
            <a:ext cx="1905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75" dirty="0">
                <a:solidFill>
                  <a:srgbClr val="FF0000"/>
                </a:solidFill>
                <a:latin typeface="Cascadia Code SemiBold"/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4000" y="4889500"/>
            <a:ext cx="8585200" cy="1238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21417"/>
                </a:solidFill>
                <a:latin typeface="Cascadia Code SemiLight"/>
              </a:rPr>
              <a:t>The parameter count was kept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intentionally low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;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augmentation, dropout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and other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regularization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techniques, a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Gaussian Negative Log-Likelihood loss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and a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GAT with more layers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could all improve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generalization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, while an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RMSE breakdown by route type</a:t>
            </a:r>
            <a:r>
              <a:rPr sz="1400" b="0" dirty="0">
                <a:solidFill>
                  <a:srgbClr val="121417"/>
                </a:solidFill>
                <a:latin typeface="Cascadia Code SemiLight"/>
              </a:rPr>
              <a:t> would show where the remaining </a:t>
            </a:r>
            <a:r>
              <a:rPr sz="1400" b="1" dirty="0">
                <a:solidFill>
                  <a:srgbClr val="121417"/>
                </a:solidFill>
                <a:latin typeface="Cascadia Code SemiBold"/>
              </a:rPr>
              <a:t>error concentrates</a:t>
            </a:r>
            <a:endParaRPr sz="1400" b="0" dirty="0">
              <a:solidFill>
                <a:srgbClr val="121417"/>
              </a:solidFill>
              <a:latin typeface="Cascadia Code SemiLight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7A4FFC44-059A-5A68-959E-88FDDB1F33A2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1D72AB41-7127-D122-2E5F-695E4287B4E3}"/>
              </a:ext>
            </a:extLst>
          </p:cNvPr>
          <p:cNvSpPr/>
          <p:nvPr/>
        </p:nvSpPr>
        <p:spPr>
          <a:xfrm>
            <a:off x="763649" y="217817"/>
            <a:ext cx="1088339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003268"/>
                </a:solidFill>
                <a:latin typeface="Cascadia Code SemiBold" panose="020B0609020000020004" pitchFamily="49" charset="0"/>
                <a:ea typeface="Arial" pitchFamily="34" charset="-122"/>
                <a:cs typeface="Cascadia Code SemiBold" panose="020B0609020000020004" pitchFamily="49" charset="0"/>
              </a:rPr>
              <a:t>BIG DATA BOWL 2026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B213DF6-9985-805B-D93E-E4F9C07DD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862" y="48649"/>
            <a:ext cx="546596" cy="5465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D476A30-44F2-064D-ED22-9F81B0CFAD51}"/>
              </a:ext>
            </a:extLst>
          </p:cNvPr>
          <p:cNvSpPr txBox="1"/>
          <p:nvPr/>
        </p:nvSpPr>
        <p:spPr>
          <a:xfrm>
            <a:off x="7407563" y="183290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65"/>
              </a:lnSpc>
            </a:pPr>
            <a:r>
              <a:rPr lang="en-US" sz="1200" kern="0" spc="75" dirty="0">
                <a:solidFill>
                  <a:srgbClr val="003268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-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 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Big Data Analytics and Text Mining</a:t>
            </a:r>
            <a:r>
              <a:rPr lang="en-US" sz="1200" b="1" kern="0" spc="75" dirty="0">
                <a:solidFill>
                  <a:srgbClr val="003268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endParaRPr lang="en-US" sz="1200" dirty="0">
              <a:solidFill>
                <a:srgbClr val="003268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5AF00B-4447-6E8B-365A-A07734286B50}"/>
              </a:ext>
            </a:extLst>
          </p:cNvPr>
          <p:cNvSpPr txBox="1"/>
          <p:nvPr/>
        </p:nvSpPr>
        <p:spPr>
          <a:xfrm>
            <a:off x="-1903356" y="185887"/>
            <a:ext cx="60960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ts val="1365"/>
              </a:lnSpc>
              <a:buNone/>
            </a:pPr>
            <a:r>
              <a:rPr lang="en-US" sz="1200" kern="0" spc="75" dirty="0">
                <a:solidFill>
                  <a:srgbClr val="003268"/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   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Ponzuoli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Giovanni</a:t>
            </a:r>
            <a:r>
              <a:rPr lang="en-US" sz="1200" kern="0" spc="75" dirty="0">
                <a:solidFill>
                  <a:srgbClr val="003268">
                    <a:alpha val="50000"/>
                  </a:srgbClr>
                </a:solidFill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	    - </a:t>
            </a:r>
            <a:endParaRPr lang="en-US" sz="1200" dirty="0">
              <a:solidFill>
                <a:srgbClr val="003268">
                  <a:alpha val="50000"/>
                </a:srgbClr>
              </a:solidFill>
              <a:latin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31" name="KPI 1"/>
          <p:cNvSpPr/>
          <p:nvPr/>
        </p:nvSpPr>
        <p:spPr>
          <a:xfrm>
            <a:off x="812800" y="1522806"/>
            <a:ext cx="3352800" cy="726289"/>
          </a:xfrm>
          <a:prstGeom prst="rect">
            <a:avLst/>
          </a:prstGeom>
          <a:solidFill>
            <a:srgbClr val="EFEDE4"/>
          </a:solidFill>
          <a:ln w="15875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dirty="0">
                <a:solidFill>
                  <a:srgbClr val="002060"/>
                </a:solidFill>
                <a:latin typeface="Cascadia Code SemiBold"/>
              </a:rPr>
              <a:t>0.4</a:t>
            </a:r>
            <a:r>
              <a:rPr lang="it-IT" sz="2800" b="1" dirty="0">
                <a:solidFill>
                  <a:srgbClr val="002060"/>
                </a:solidFill>
                <a:latin typeface="Cascadia Code SemiBold"/>
              </a:rPr>
              <a:t>10</a:t>
            </a:r>
            <a:r>
              <a:rPr sz="2800" b="1" dirty="0">
                <a:solidFill>
                  <a:srgbClr val="002060"/>
                </a:solidFill>
                <a:latin typeface="Cascadia Code SemiBold"/>
              </a:rPr>
              <a:t> yards</a:t>
            </a:r>
          </a:p>
          <a:p>
            <a:pPr algn="ctr">
              <a:lnSpc>
                <a:spcPct val="112000"/>
              </a:lnSpc>
            </a:pPr>
            <a:r>
              <a:rPr sz="1200" b="0" dirty="0">
                <a:solidFill>
                  <a:srgbClr val="121417"/>
                </a:solidFill>
                <a:latin typeface="Cascadia Code SemiLight"/>
              </a:rPr>
              <a:t>test RMSE of the final </a:t>
            </a:r>
            <a:r>
              <a:rPr lang="it-IT" sz="1200" b="0" dirty="0">
                <a:solidFill>
                  <a:srgbClr val="121417"/>
                </a:solidFill>
                <a:latin typeface="Cascadia Code SemiLight"/>
              </a:rPr>
              <a:t>experiment</a:t>
            </a:r>
            <a:endParaRPr sz="1200" b="0" dirty="0">
              <a:solidFill>
                <a:srgbClr val="121417"/>
              </a:solidFill>
              <a:latin typeface="Cascadia Code SemiLight"/>
            </a:endParaRPr>
          </a:p>
        </p:txBody>
      </p:sp>
      <p:sp>
        <p:nvSpPr>
          <p:cNvPr id="32" name="KPI 2"/>
          <p:cNvSpPr/>
          <p:nvPr/>
        </p:nvSpPr>
        <p:spPr>
          <a:xfrm>
            <a:off x="4419600" y="1522806"/>
            <a:ext cx="3352800" cy="726289"/>
          </a:xfrm>
          <a:prstGeom prst="rect">
            <a:avLst/>
          </a:prstGeom>
          <a:solidFill>
            <a:srgbClr val="EFEDE4"/>
          </a:solidFill>
          <a:ln w="15875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dirty="0">
                <a:solidFill>
                  <a:srgbClr val="FF0000"/>
                </a:solidFill>
                <a:latin typeface="Cascadia Code SemiBold"/>
              </a:rPr>
              <a:t>75,620</a:t>
            </a:r>
          </a:p>
          <a:p>
            <a:pPr algn="ctr">
              <a:lnSpc>
                <a:spcPct val="112000"/>
              </a:lnSpc>
            </a:pPr>
            <a:r>
              <a:rPr sz="1200" b="0" dirty="0">
                <a:solidFill>
                  <a:srgbClr val="121417"/>
                </a:solidFill>
                <a:latin typeface="Cascadia Code SemiLight"/>
              </a:rPr>
              <a:t>trainable parameters</a:t>
            </a:r>
          </a:p>
        </p:txBody>
      </p:sp>
      <p:sp>
        <p:nvSpPr>
          <p:cNvPr id="33" name="KPI 3"/>
          <p:cNvSpPr/>
          <p:nvPr/>
        </p:nvSpPr>
        <p:spPr>
          <a:xfrm>
            <a:off x="8026400" y="1522806"/>
            <a:ext cx="3352800" cy="726289"/>
          </a:xfrm>
          <a:prstGeom prst="rect">
            <a:avLst/>
          </a:prstGeom>
          <a:solidFill>
            <a:srgbClr val="EFEDE4"/>
          </a:solidFill>
          <a:ln w="15875">
            <a:solidFill>
              <a:srgbClr val="8A8672"/>
            </a:solidFill>
          </a:ln>
          <a:effectLst/>
        </p:spPr>
        <p:txBody>
          <a:bodyPr wrap="square" lIns="63500" tIns="25400" rIns="63500" bIns="25400" rtlCol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dirty="0">
                <a:solidFill>
                  <a:srgbClr val="002060"/>
                </a:solidFill>
                <a:latin typeface="Cascadia Code SemiBold"/>
              </a:rPr>
              <a:t>−</a:t>
            </a:r>
            <a:r>
              <a:rPr lang="it-IT" sz="2800" b="1" dirty="0">
                <a:solidFill>
                  <a:srgbClr val="002060"/>
                </a:solidFill>
                <a:latin typeface="Cascadia Code SemiBold"/>
              </a:rPr>
              <a:t>60</a:t>
            </a:r>
            <a:r>
              <a:rPr sz="2800" b="1" dirty="0">
                <a:solidFill>
                  <a:srgbClr val="002060"/>
                </a:solidFill>
                <a:latin typeface="Cascadia Code SemiBold"/>
              </a:rPr>
              <a:t>%</a:t>
            </a:r>
          </a:p>
          <a:p>
            <a:pPr algn="ctr">
              <a:lnSpc>
                <a:spcPct val="112000"/>
              </a:lnSpc>
            </a:pPr>
            <a:r>
              <a:rPr sz="1200" b="0" dirty="0">
                <a:solidFill>
                  <a:srgbClr val="121417"/>
                </a:solidFill>
                <a:latin typeface="Cascadia Code SemiLight"/>
              </a:rPr>
              <a:t>RMSE vs. the starting baseline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FL Trajectory Prediction — AI Project Presentation">
  <a:themeElements>
    <a:clrScheme name="NFL Trajectory Prediction — AI Project Presentation">
      <a:dk1>
        <a:srgbClr val="121417"/>
      </a:dk1>
      <a:lt1>
        <a:srgbClr val="F5F3EC"/>
      </a:lt1>
      <a:dk2>
        <a:srgbClr val="292A2C"/>
      </a:dk2>
      <a:lt2>
        <a:srgbClr val="BCBBB7"/>
      </a:lt2>
      <a:accent1>
        <a:srgbClr val="E2672B"/>
      </a:accent1>
      <a:accent2>
        <a:srgbClr val="3FA7A3"/>
      </a:accent2>
      <a:accent3>
        <a:srgbClr val="9AA0A6"/>
      </a:accent3>
      <a:accent4>
        <a:srgbClr val="9A9A97"/>
      </a:accent4>
      <a:accent5>
        <a:srgbClr val="787877"/>
      </a:accent5>
      <a:accent6>
        <a:srgbClr val="565757"/>
      </a:accent6>
      <a:hlink>
        <a:srgbClr val="0563C1"/>
      </a:hlink>
      <a:folHlink>
        <a:srgbClr val="954F72"/>
      </a:folHlink>
    </a:clrScheme>
    <a:fontScheme name="NFL Trajectory Prediction — AI Project Presentat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748cc8-8fa4-40f7-8d24-135f34c05e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BB9DD747ED6C42B76363A2830CAFBB" ma:contentTypeVersion="11" ma:contentTypeDescription="Create a new document." ma:contentTypeScope="" ma:versionID="a9b8399940927418ece3d8e09883ba17">
  <xsd:schema xmlns:xsd="http://www.w3.org/2001/XMLSchema" xmlns:xs="http://www.w3.org/2001/XMLSchema" xmlns:p="http://schemas.microsoft.com/office/2006/metadata/properties" xmlns:ns3="79748cc8-8fa4-40f7-8d24-135f34c05ee1" targetNamespace="http://schemas.microsoft.com/office/2006/metadata/properties" ma:root="true" ma:fieldsID="e9ed0509c7a7d2c576253154b5fcb23d" ns3:_="">
    <xsd:import namespace="79748cc8-8fa4-40f7-8d24-135f34c05ee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748cc8-8fa4-40f7-8d24-135f34c05ee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AEDA8-D123-4839-AD48-9EEA69C07ECC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79748cc8-8fa4-40f7-8d24-135f34c05ee1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6115BFE-5C1D-4CA8-863C-957A13FCB5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DA49BA-EB68-4841-9E88-4DB2811FEB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748cc8-8fa4-40f7-8d24-135f34c05e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936</TotalTime>
  <Words>2597</Words>
  <Application>Microsoft Office PowerPoint</Application>
  <PresentationFormat>Widescreen</PresentationFormat>
  <Paragraphs>271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Cambria Math</vt:lpstr>
      <vt:lpstr>Cascadia Code ExtraLight</vt:lpstr>
      <vt:lpstr>Cascadia Code Light</vt:lpstr>
      <vt:lpstr>Cascadia Code SemiBold</vt:lpstr>
      <vt:lpstr>Cascadia Code SemiLight</vt:lpstr>
      <vt:lpstr>NFL Trajectory Prediction — AI Project Presentation</vt:lpstr>
      <vt:lpstr>From Tactics to Trajectories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NFL Trajectory Prediction — AI Project Presentation</dc:title>
  <dc:subject/>
  <dc:creator/>
  <cp:lastModifiedBy>Giovanni Ponzuoli - giovanni.ponzuoli@studio.unibo.it</cp:lastModifiedBy>
  <cp:revision>17</cp:revision>
  <dcterms:created xsi:type="dcterms:W3CDTF">2026-10-02T13:46:20Z</dcterms:created>
  <dcterms:modified xsi:type="dcterms:W3CDTF">2026-10-09T15:40:36Z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0x01010012BB9DD747ED6C42B76363A2830CAFBB</vt:lpwstr>
  </property>
</Properties>
</file>